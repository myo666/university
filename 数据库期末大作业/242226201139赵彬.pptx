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  <Relationship Id="rId1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﻿各位老师好，我的课程设计题目是——快递物流平台的数据库设计。</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﻿我的汇报将按这个结构展开：系统概述、需求分析、概念设计、逻辑设计、BCNF 范式检验、物理实现、CRUD 演示，最后是总结与展望。</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﻿本系统基于 PostgreSQL，将用户分为三类：普通用户可以下单和查快递；快递员查看自己站点的包裹；管理员拥有全部操作权限。核心业务流程是：下单、分配站点、快递员取件、逐站运输、最终签收。</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题要求设计一个快递物流平台的数据库系统，基本功能包括：用户注册及登录，分为普通用户、快递员和管理员三大类用户；普通用户可选择任一快递公司下单新的快递包裹或者查询已下单的快递，以及凭运单号查询快递；快递员可查询经过自己所属站点的快递；下单时需记录快递物流的始发地、目的地、包裹重量等信息；下单后物流站点分配快递员去取件，每经过一个物流站点都有相应的快递员完成当前物流段的运输，记录每个包裹途经的当前站点信息、下一站点信息以及负责运输的快递员。基于这些原文需求，我绘制了三层数据流图，顶层描述系统与外部实体的交互，0层拆分为用户管理、快递下单、物流追踪、管理维护四个子系统，1层对下单子系统进行了展开。同时编制了12个核心数据项的数据字典，列出了8项功能说明。</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﻿概念设计中识别出 5 个实体：用户、公司、站点、包裹、中转记录。它们之间有 6 组一对多关系。值得说明的是快递员建模方案——我选择了在 User 表中用 role 字段区分角色，简化了设计。</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﻿按教材转换规则，规则一：实体转表；规则二：一对多联系在多端加外键。最终得到 5 张表，外键关系标注完整。</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﻿对 5 张表逐一进行了函数依赖分析和 BCNF 验证。以 User 表为例：User 表的属性包括 user_id、username、password、role、phone、real_name 和 created_at。我分析了它的函数依赖集，user_id 可以唯一决定用户名、密码、角色、手机号、真实姓名和注册时间，反过来 username 也能唯一决定 user_id，所以 user_id 和 username 都是候选码。BCNF 要求每一个非平凡函数依赖的左部必须包含一个候选码，这里的每个函数依赖左部都是 user_id 或者 username，都是超码，因此 User 表满足 BCNF。用同样的方法检验了其余 4 张表，全部满足，无需进行模式分解。</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﻿物理实现在 PostgreSQL 15 上完成。创建了 3 个存储过程、3 个触发器、3 个视图。触发器是亮点——下单自动派件、中转自动同步状态、拦截非法角色操作。</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 pgAdmin 中进行了完整的增删改查操作。SELECT 查物流轨迹、INSERT 存储过程下单、UPDATE 更新状态、DELETE 删除记录。还演示了触发器拦截非法操作。</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﻿回顾六项设计成果，与评分标准一一对应。改进方向包括密码加密、权限控制、性能优化和业务扩展。覆盖了课程第三到第六章知识点。</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﻿以上就是快递物流平台数据库设计的全部内容，请各位老师批评指正，谢谢！</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3A5C"/>
              </a:gs>
              <a:gs pos="100000">
                <a:srgbClr val="0D7377"/>
              </a:gs>
            </a:gsLst>
            <a:lin ang="2700000" scaled="1"/>
          </a:gradFill>
          <a:ln>
            <a:noFill/>
          </a:ln>
        </p:spPr>
      </p:sp>
      <p:sp>
        <p:nvSpPr>
          <p:cNvPr id="3" name="Rectangle 3"/>
          <p:cNvSpPr/>
          <p:nvPr/>
        </p:nvSpPr>
        <p:spPr>
          <a:xfrm>
            <a:off x="571500" y="571500"/>
            <a:ext cx="11049000" cy="5715000"/>
          </a:xfrm>
          <a:prstGeom prst="rect">
            <a:avLst/>
          </a:prstGeom>
          <a:noFill/>
          <a:ln w="19050">
            <a:solidFill>
              <a:srgbClr val="FFFFFF">
                <a:alpha val="15000"/>
              </a:srgbClr>
            </a:solidFill>
          </a:ln>
        </p:spPr>
      </p:sp>
      <p:sp>
        <p:nvSpPr>
          <p:cNvPr id="4" name="Rectangle 4"/>
          <p:cNvSpPr/>
          <p:nvPr/>
        </p:nvSpPr>
        <p:spPr>
          <a:xfrm>
            <a:off x="666750" y="666750"/>
            <a:ext cx="10858500" cy="5524500"/>
          </a:xfrm>
          <a:prstGeom prst="rect">
            <a:avLst/>
          </a:prstGeom>
          <a:noFill/>
          <a:ln w="9525">
            <a:solidFill>
              <a:srgbClr val="FFFFFF">
                <a:alpha val="8000"/>
              </a:srgbClr>
            </a:solidFill>
          </a:ln>
        </p:spPr>
      </p:sp>
      <p:sp>
        <p:nvSpPr>
          <p:cNvPr id="5" name="TextBox 5"/>
          <p:cNvSpPr txBox="1"/>
          <p:nvPr/>
        </p:nvSpPr>
        <p:spPr>
          <a:xfrm>
            <a:off x="3023768" y="1318260"/>
            <a:ext cx="6144463" cy="1390650"/>
          </a:xfrm>
          <a:prstGeom prst="rect">
            <a:avLst/>
          </a:prstGeom>
          <a:noFill/>
          <a:ln>
            <a:noFill/>
          </a:ln>
        </p:spPr>
        <p:txBody>
          <a:bodyPr wrap="none" lIns="0" tIns="0" rIns="0" bIns="0" anchor="t" anchorCtr="0">
            <a:spAutoFit/>
          </a:bodyPr>
          <a:lstStyle/>
          <a:p>
            <a:pPr algn="ctr"/>
            <a:r>
              <a:rPr lang="zh-CN" sz="7200" b="1" dirty="0">
                <a:solidFill>
                  <a:srgbClr val="FFFFFF"/>
                </a:solidFill>
                <a:latin typeface="Segoe UI"/>
                <a:ea typeface="Microsoft YaHei"/>
                <a:cs typeface="Segoe UI"/>
              </a:rPr>
              <a:t>快递物流平台</a:t>
            </a:r>
          </a:p>
        </p:txBody>
      </p:sp>
      <p:sp>
        <p:nvSpPr>
          <p:cNvPr id="6" name="TextBox 6"/>
          <p:cNvSpPr txBox="1"/>
          <p:nvPr/>
        </p:nvSpPr>
        <p:spPr>
          <a:xfrm>
            <a:off x="4563237" y="2468880"/>
            <a:ext cx="3065526" cy="704088"/>
          </a:xfrm>
          <a:prstGeom prst="rect">
            <a:avLst/>
          </a:prstGeom>
          <a:noFill/>
          <a:ln>
            <a:noFill/>
          </a:ln>
        </p:spPr>
        <p:txBody>
          <a:bodyPr wrap="none" lIns="0" tIns="0" rIns="0" bIns="0" anchor="t" anchorCtr="0">
            <a:spAutoFit/>
          </a:bodyPr>
          <a:lstStyle/>
          <a:p>
            <a:pPr algn="ctr"/>
            <a:r>
              <a:rPr lang="zh-CN" sz="3600" b="1" spc="900" dirty="0">
                <a:solidFill>
                  <a:srgbClr val="00A8A8"/>
                </a:solidFill>
                <a:latin typeface="Segoe UI"/>
                <a:ea typeface="Microsoft YaHei"/>
                <a:cs typeface="Segoe UI"/>
              </a:rPr>
              <a:t>数据库设计</a:t>
            </a:r>
          </a:p>
        </p:txBody>
      </p:sp>
      <p:sp>
        <p:nvSpPr>
          <p:cNvPr id="7" name="Line 7"/>
          <p:cNvSpPr/>
          <p:nvPr/>
        </p:nvSpPr>
        <p:spPr>
          <a:xfrm>
            <a:off x="5143500" y="3238500"/>
            <a:ext cx="1905000" cy="9525"/>
          </a:xfrm>
          <a:custGeom>
            <a:avLst/>
            <a:gdLst/>
            <a:ahLst/>
            <a:cxnLst/>
            <a:rect l="l" t="t" r="r" b="b"/>
            <a:pathLst>
              <a:path w="1905000" h="9525">
                <a:moveTo>
                  <a:pt x="0" y="0"/>
                </a:moveTo>
                <a:lnTo>
                  <a:pt x="1905000" y="0"/>
                </a:lnTo>
              </a:path>
            </a:pathLst>
          </a:custGeom>
          <a:noFill/>
          <a:ln w="19050">
            <a:solidFill>
              <a:srgbClr val="00A8A8"/>
            </a:solidFill>
          </a:ln>
        </p:spPr>
      </p:sp>
      <p:sp>
        <p:nvSpPr>
          <p:cNvPr id="8" name="TextBox 8"/>
          <p:cNvSpPr txBox="1"/>
          <p:nvPr/>
        </p:nvSpPr>
        <p:spPr>
          <a:xfrm>
            <a:off x="3499104" y="3550920"/>
            <a:ext cx="5193792" cy="469392"/>
          </a:xfrm>
          <a:prstGeom prst="rect">
            <a:avLst/>
          </a:prstGeom>
          <a:noFill/>
          <a:ln>
            <a:noFill/>
          </a:ln>
        </p:spPr>
        <p:txBody>
          <a:bodyPr wrap="none" lIns="0" tIns="0" rIns="0" bIns="0" anchor="t" anchorCtr="0">
            <a:spAutoFit/>
          </a:bodyPr>
          <a:lstStyle/>
          <a:p>
            <a:pPr algn="ctr"/>
            <a:r>
              <a:rPr lang="zh-CN" sz="2400" dirty="0">
                <a:solidFill>
                  <a:srgbClr val="B2BEC3"/>
                </a:solidFill>
                <a:latin typeface="Segoe UI"/>
                <a:ea typeface="Microsoft YaHei"/>
                <a:cs typeface="Segoe UI"/>
              </a:rPr>
              <a:t>题目一：快递物流平台的数据库设计</a:t>
            </a:r>
          </a:p>
        </p:txBody>
      </p:sp>
      <p:sp>
        <p:nvSpPr>
          <p:cNvPr id="9" name="TextBox 9"/>
          <p:cNvSpPr txBox="1"/>
          <p:nvPr/>
        </p:nvSpPr>
        <p:spPr>
          <a:xfrm>
            <a:off x="3774243" y="4250055"/>
            <a:ext cx="4643514"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Segoe UI"/>
                <a:ea typeface="Microsoft YaHei"/>
                <a:cs typeface="Segoe UI"/>
              </a:rPr>
              <a:t>赵彬 | 学号 242226201139 | 计科241</a:t>
            </a:r>
          </a:p>
        </p:txBody>
      </p:sp>
      <p:sp>
        <p:nvSpPr>
          <p:cNvPr id="10" name="TextBox 10"/>
          <p:cNvSpPr txBox="1"/>
          <p:nvPr/>
        </p:nvSpPr>
        <p:spPr>
          <a:xfrm>
            <a:off x="5238750" y="4758690"/>
            <a:ext cx="1714500" cy="352044"/>
          </a:xfrm>
          <a:prstGeom prst="rect">
            <a:avLst/>
          </a:prstGeom>
          <a:noFill/>
          <a:ln>
            <a:noFill/>
          </a:ln>
        </p:spPr>
        <p:txBody>
          <a:bodyPr wrap="none" lIns="0" tIns="0" rIns="0" bIns="0" anchor="t" anchorCtr="0">
            <a:spAutoFit/>
          </a:bodyPr>
          <a:lstStyle/>
          <a:p>
            <a:pPr algn="ctr"/>
            <a:r>
              <a:rPr lang="zh-CN" sz="1800" dirty="0">
                <a:solidFill>
                  <a:srgbClr val="636E72"/>
                </a:solidFill>
                <a:latin typeface="Segoe UI"/>
                <a:ea typeface="Microsoft YaHei"/>
                <a:cs typeface="Segoe UI"/>
              </a:rPr>
              <a:t>指导教师：刘哲</a:t>
            </a:r>
          </a:p>
        </p:txBody>
      </p:sp>
      <p:sp>
        <p:nvSpPr>
          <p:cNvPr id="11" name="TextBox 11"/>
          <p:cNvSpPr txBox="1"/>
          <p:nvPr/>
        </p:nvSpPr>
        <p:spPr>
          <a:xfrm>
            <a:off x="4085492" y="5759768"/>
            <a:ext cx="4021017" cy="264033"/>
          </a:xfrm>
          <a:prstGeom prst="rect">
            <a:avLst/>
          </a:prstGeom>
          <a:noFill/>
          <a:ln>
            <a:noFill/>
          </a:ln>
        </p:spPr>
        <p:txBody>
          <a:bodyPr wrap="none" lIns="0" tIns="0" rIns="0" bIns="0" anchor="t" anchorCtr="0">
            <a:spAutoFit/>
          </a:bodyPr>
          <a:lstStyle/>
          <a:p>
            <a:pPr algn="ctr"/>
            <a:r>
              <a:rPr lang="zh-CN" sz="1350" dirty="0">
                <a:solidFill>
                  <a:srgbClr val="636E72"/>
                </a:solidFill>
                <a:latin typeface="Segoe UI"/>
                <a:ea typeface="Microsoft YaHei"/>
                <a:cs typeface="Segoe UI"/>
              </a:rPr>
              <a:t>数据库原理与应用实验 · 期末大作业 · 2026年6月</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1A3A5C"/>
          </a:solidFill>
          <a:ln>
            <a:noFill/>
          </a:ln>
        </p:spPr>
      </p:sp>
      <p:sp>
        <p:nvSpPr>
          <p:cNvPr id="4" name="TextBox 4"/>
          <p:cNvSpPr txBox="1"/>
          <p:nvPr/>
        </p:nvSpPr>
        <p:spPr>
          <a:xfrm>
            <a:off x="743712" y="297180"/>
            <a:ext cx="1054303" cy="704088"/>
          </a:xfrm>
          <a:prstGeom prst="rect">
            <a:avLst/>
          </a:prstGeom>
          <a:noFill/>
          <a:ln>
            <a:noFill/>
          </a:ln>
        </p:spPr>
        <p:txBody>
          <a:bodyPr wrap="none" lIns="0" tIns="0" rIns="0" bIns="0" anchor="t" anchorCtr="0">
            <a:spAutoFit/>
          </a:bodyPr>
          <a:lstStyle/>
          <a:p>
            <a:pPr algn="l"/>
            <a:r>
              <a:rPr lang="zh-CN" sz="3600" b="1" dirty="0">
                <a:solidFill>
                  <a:srgbClr val="1A3A5C"/>
                </a:solidFill>
                <a:latin typeface="Segoe UI"/>
                <a:ea typeface="Microsoft YaHei"/>
                <a:cs typeface="Segoe UI"/>
              </a:rPr>
              <a:t>目录</a:t>
            </a:r>
          </a:p>
        </p:txBody>
      </p:sp>
      <p:sp>
        <p:nvSpPr>
          <p:cNvPr id="5" name="Line 5"/>
          <p:cNvSpPr/>
          <p:nvPr/>
        </p:nvSpPr>
        <p:spPr>
          <a:xfrm>
            <a:off x="762000" y="857250"/>
            <a:ext cx="1524000" cy="9525"/>
          </a:xfrm>
          <a:custGeom>
            <a:avLst/>
            <a:gdLst/>
            <a:ahLst/>
            <a:cxnLst/>
            <a:rect l="l" t="t" r="r" b="b"/>
            <a:pathLst>
              <a:path w="1524000" h="9525">
                <a:moveTo>
                  <a:pt x="0" y="0"/>
                </a:moveTo>
                <a:lnTo>
                  <a:pt x="1524000" y="0"/>
                </a:lnTo>
              </a:path>
            </a:pathLst>
          </a:custGeom>
          <a:noFill/>
          <a:ln w="28575">
            <a:solidFill>
              <a:srgbClr val="00A8A8"/>
            </a:solidFill>
          </a:ln>
        </p:spPr>
      </p:sp>
      <p:sp>
        <p:nvSpPr>
          <p:cNvPr id="6" name="TextBox 6"/>
          <p:cNvSpPr txBox="1"/>
          <p:nvPr/>
        </p:nvSpPr>
        <p:spPr>
          <a:xfrm>
            <a:off x="1130808" y="1360170"/>
            <a:ext cx="1786829" cy="469392"/>
          </a:xfrm>
          <a:prstGeom prst="rect">
            <a:avLst/>
          </a:prstGeom>
          <a:noFill/>
          <a:ln>
            <a:noFill/>
          </a:ln>
        </p:spPr>
        <p:txBody>
          <a:bodyPr wrap="none" lIns="0" tIns="0" rIns="0" bIns="0" anchor="t" anchorCtr="0">
            <a:spAutoFit/>
          </a:bodyPr>
          <a:lstStyle/>
          <a:p>
            <a:pPr algn="l"/>
            <a:r>
              <a:rPr lang="en-US" sz="2400" b="1" dirty="0">
                <a:solidFill>
                  <a:srgbClr val="1A3A5C"/>
                </a:solidFill>
                <a:latin typeface="Segoe UI"/>
                <a:ea typeface="Segoe UI"/>
                <a:cs typeface="Segoe UI"/>
              </a:rPr>
              <a:t>01</a:t>
            </a:r>
            <a:r>
              <a:rPr lang="en-US" sz="2400" dirty="0">
                <a:solidFill>
                  <a:srgbClr val="2D3436"/>
                </a:solidFill>
                <a:latin typeface="Segoe UI"/>
                <a:ea typeface="Segoe UI"/>
                <a:cs typeface="Segoe UI"/>
              </a:rPr>
              <a:t xml:space="preserve"> </a:t>
            </a:r>
            <a:r>
              <a:rPr lang="zh-CN" sz="2400" dirty="0">
                <a:solidFill>
                  <a:srgbClr val="2D3436"/>
                </a:solidFill>
                <a:latin typeface="Segoe UI"/>
                <a:ea typeface="Microsoft YaHei"/>
                <a:cs typeface="Segoe UI"/>
              </a:rPr>
              <a:t>系统概述</a:t>
            </a:r>
          </a:p>
        </p:txBody>
      </p:sp>
      <p:sp>
        <p:nvSpPr>
          <p:cNvPr id="7" name="TextBox 7"/>
          <p:cNvSpPr txBox="1"/>
          <p:nvPr/>
        </p:nvSpPr>
        <p:spPr>
          <a:xfrm>
            <a:off x="1130808" y="1931670"/>
            <a:ext cx="1786829" cy="469392"/>
          </a:xfrm>
          <a:prstGeom prst="rect">
            <a:avLst/>
          </a:prstGeom>
          <a:noFill/>
          <a:ln>
            <a:noFill/>
          </a:ln>
        </p:spPr>
        <p:txBody>
          <a:bodyPr wrap="none" lIns="0" tIns="0" rIns="0" bIns="0" anchor="t" anchorCtr="0">
            <a:spAutoFit/>
          </a:bodyPr>
          <a:lstStyle/>
          <a:p>
            <a:pPr algn="l"/>
            <a:r>
              <a:rPr lang="en-US" sz="2400" b="1" dirty="0">
                <a:solidFill>
                  <a:srgbClr val="1A3A5C"/>
                </a:solidFill>
                <a:latin typeface="Segoe UI"/>
                <a:ea typeface="Segoe UI"/>
                <a:cs typeface="Segoe UI"/>
              </a:rPr>
              <a:t>02</a:t>
            </a:r>
            <a:r>
              <a:rPr lang="en-US" sz="2400" dirty="0">
                <a:solidFill>
                  <a:srgbClr val="2D3436"/>
                </a:solidFill>
                <a:latin typeface="Segoe UI"/>
                <a:ea typeface="Segoe UI"/>
                <a:cs typeface="Segoe UI"/>
              </a:rPr>
              <a:t xml:space="preserve"> </a:t>
            </a:r>
            <a:r>
              <a:rPr lang="zh-CN" sz="2400" dirty="0">
                <a:solidFill>
                  <a:srgbClr val="2D3436"/>
                </a:solidFill>
                <a:latin typeface="Segoe UI"/>
                <a:ea typeface="Microsoft YaHei"/>
                <a:cs typeface="Segoe UI"/>
              </a:rPr>
              <a:t>需求分析</a:t>
            </a:r>
          </a:p>
        </p:txBody>
      </p:sp>
      <p:sp>
        <p:nvSpPr>
          <p:cNvPr id="8" name="TextBox 8"/>
          <p:cNvSpPr txBox="1"/>
          <p:nvPr/>
        </p:nvSpPr>
        <p:spPr>
          <a:xfrm>
            <a:off x="1130808" y="2503170"/>
            <a:ext cx="3627608" cy="469392"/>
          </a:xfrm>
          <a:prstGeom prst="rect">
            <a:avLst/>
          </a:prstGeom>
          <a:noFill/>
          <a:ln>
            <a:noFill/>
          </a:ln>
        </p:spPr>
        <p:txBody>
          <a:bodyPr wrap="none" lIns="0" tIns="0" rIns="0" bIns="0" anchor="t" anchorCtr="0">
            <a:spAutoFit/>
          </a:bodyPr>
          <a:lstStyle/>
          <a:p>
            <a:pPr algn="l"/>
            <a:r>
              <a:rPr lang="en-US" sz="2400" b="1" dirty="0">
                <a:solidFill>
                  <a:srgbClr val="1A3A5C"/>
                </a:solidFill>
                <a:latin typeface="Segoe UI"/>
                <a:ea typeface="Segoe UI"/>
                <a:cs typeface="Segoe UI"/>
              </a:rPr>
              <a:t>03</a:t>
            </a:r>
            <a:r>
              <a:rPr lang="en-US" sz="2400" dirty="0">
                <a:solidFill>
                  <a:srgbClr val="2D3436"/>
                </a:solidFill>
                <a:latin typeface="Segoe UI"/>
                <a:ea typeface="Segoe UI"/>
                <a:cs typeface="Segoe UI"/>
              </a:rPr>
              <a:t xml:space="preserve"> </a:t>
            </a:r>
            <a:r>
              <a:rPr lang="zh-CN" sz="2400" dirty="0">
                <a:solidFill>
                  <a:srgbClr val="2D3436"/>
                </a:solidFill>
                <a:latin typeface="Segoe UI"/>
                <a:ea typeface="Microsoft YaHei"/>
                <a:cs typeface="Segoe UI"/>
              </a:rPr>
              <a:t>概念设计 — E-R 模型</a:t>
            </a:r>
          </a:p>
        </p:txBody>
      </p:sp>
      <p:sp>
        <p:nvSpPr>
          <p:cNvPr id="9" name="TextBox 9"/>
          <p:cNvSpPr txBox="1"/>
          <p:nvPr/>
        </p:nvSpPr>
        <p:spPr>
          <a:xfrm>
            <a:off x="1130808" y="3074670"/>
            <a:ext cx="3450732" cy="469392"/>
          </a:xfrm>
          <a:prstGeom prst="rect">
            <a:avLst/>
          </a:prstGeom>
          <a:noFill/>
          <a:ln>
            <a:noFill/>
          </a:ln>
        </p:spPr>
        <p:txBody>
          <a:bodyPr wrap="none" lIns="0" tIns="0" rIns="0" bIns="0" anchor="t" anchorCtr="0">
            <a:spAutoFit/>
          </a:bodyPr>
          <a:lstStyle/>
          <a:p>
            <a:pPr algn="l"/>
            <a:r>
              <a:rPr lang="en-US" sz="2400" b="1" dirty="0">
                <a:solidFill>
                  <a:srgbClr val="1A3A5C"/>
                </a:solidFill>
                <a:latin typeface="Segoe UI"/>
                <a:ea typeface="Segoe UI"/>
                <a:cs typeface="Segoe UI"/>
              </a:rPr>
              <a:t>04</a:t>
            </a:r>
            <a:r>
              <a:rPr lang="en-US" sz="2400" dirty="0">
                <a:solidFill>
                  <a:srgbClr val="2D3436"/>
                </a:solidFill>
                <a:latin typeface="Segoe UI"/>
                <a:ea typeface="Segoe UI"/>
                <a:cs typeface="Segoe UI"/>
              </a:rPr>
              <a:t xml:space="preserve"> </a:t>
            </a:r>
            <a:r>
              <a:rPr lang="zh-CN" sz="2400" dirty="0">
                <a:solidFill>
                  <a:srgbClr val="2D3436"/>
                </a:solidFill>
                <a:latin typeface="Segoe UI"/>
                <a:ea typeface="Microsoft YaHei"/>
                <a:cs typeface="Segoe UI"/>
              </a:rPr>
              <a:t>逻辑设计 — 关系模式</a:t>
            </a:r>
          </a:p>
        </p:txBody>
      </p:sp>
      <p:sp>
        <p:nvSpPr>
          <p:cNvPr id="10" name="TextBox 10"/>
          <p:cNvSpPr txBox="1"/>
          <p:nvPr/>
        </p:nvSpPr>
        <p:spPr>
          <a:xfrm>
            <a:off x="1130808" y="3646170"/>
            <a:ext cx="2740030" cy="469392"/>
          </a:xfrm>
          <a:prstGeom prst="rect">
            <a:avLst/>
          </a:prstGeom>
          <a:noFill/>
          <a:ln>
            <a:noFill/>
          </a:ln>
        </p:spPr>
        <p:txBody>
          <a:bodyPr wrap="none" lIns="0" tIns="0" rIns="0" bIns="0" anchor="t" anchorCtr="0">
            <a:spAutoFit/>
          </a:bodyPr>
          <a:lstStyle/>
          <a:p>
            <a:pPr algn="l"/>
            <a:r>
              <a:rPr lang="en-US" sz="2400" b="1" dirty="0">
                <a:solidFill>
                  <a:srgbClr val="1A3A5C"/>
                </a:solidFill>
                <a:latin typeface="Segoe UI"/>
                <a:ea typeface="Segoe UI"/>
                <a:cs typeface="Segoe UI"/>
              </a:rPr>
              <a:t>05</a:t>
            </a:r>
            <a:r>
              <a:rPr lang="en-US" sz="2400" dirty="0">
                <a:solidFill>
                  <a:srgbClr val="2D3436"/>
                </a:solidFill>
                <a:latin typeface="Segoe UI"/>
                <a:ea typeface="Segoe UI"/>
                <a:cs typeface="Segoe UI"/>
              </a:rPr>
              <a:t xml:space="preserve"> </a:t>
            </a:r>
            <a:r>
              <a:rPr lang="zh-CN" sz="2400" dirty="0">
                <a:solidFill>
                  <a:srgbClr val="2D3436"/>
                </a:solidFill>
                <a:latin typeface="Segoe UI"/>
                <a:ea typeface="Microsoft YaHei"/>
                <a:cs typeface="Segoe UI"/>
              </a:rPr>
              <a:t>BCNF 范式检验</a:t>
            </a:r>
          </a:p>
        </p:txBody>
      </p:sp>
      <p:sp>
        <p:nvSpPr>
          <p:cNvPr id="11" name="TextBox 11"/>
          <p:cNvSpPr txBox="1"/>
          <p:nvPr/>
        </p:nvSpPr>
        <p:spPr>
          <a:xfrm>
            <a:off x="1130808" y="4217670"/>
            <a:ext cx="3402269" cy="469392"/>
          </a:xfrm>
          <a:prstGeom prst="rect">
            <a:avLst/>
          </a:prstGeom>
          <a:noFill/>
          <a:ln>
            <a:noFill/>
          </a:ln>
        </p:spPr>
        <p:txBody>
          <a:bodyPr wrap="none" lIns="0" tIns="0" rIns="0" bIns="0" anchor="t" anchorCtr="0">
            <a:spAutoFit/>
          </a:bodyPr>
          <a:lstStyle/>
          <a:p>
            <a:pPr algn="l"/>
            <a:r>
              <a:rPr lang="en-US" sz="2400" b="1" dirty="0">
                <a:solidFill>
                  <a:srgbClr val="1A3A5C"/>
                </a:solidFill>
                <a:latin typeface="Segoe UI"/>
                <a:ea typeface="Segoe UI"/>
                <a:cs typeface="Segoe UI"/>
              </a:rPr>
              <a:t>06</a:t>
            </a:r>
            <a:r>
              <a:rPr lang="en-US" sz="2400" dirty="0">
                <a:solidFill>
                  <a:srgbClr val="2D3436"/>
                </a:solidFill>
                <a:latin typeface="Segoe UI"/>
                <a:ea typeface="Segoe UI"/>
                <a:cs typeface="Segoe UI"/>
              </a:rPr>
              <a:t xml:space="preserve"> </a:t>
            </a:r>
            <a:r>
              <a:rPr lang="zh-CN" sz="2400" dirty="0">
                <a:solidFill>
                  <a:srgbClr val="2D3436"/>
                </a:solidFill>
                <a:latin typeface="Segoe UI"/>
                <a:ea typeface="Microsoft YaHei"/>
                <a:cs typeface="Segoe UI"/>
              </a:rPr>
              <a:t>物理设计与系统实现</a:t>
            </a:r>
          </a:p>
        </p:txBody>
      </p:sp>
      <p:sp>
        <p:nvSpPr>
          <p:cNvPr id="12" name="TextBox 12"/>
          <p:cNvSpPr txBox="1"/>
          <p:nvPr/>
        </p:nvSpPr>
        <p:spPr>
          <a:xfrm>
            <a:off x="1130808" y="4789170"/>
            <a:ext cx="2740030" cy="469392"/>
          </a:xfrm>
          <a:prstGeom prst="rect">
            <a:avLst/>
          </a:prstGeom>
          <a:noFill/>
          <a:ln>
            <a:noFill/>
          </a:ln>
        </p:spPr>
        <p:txBody>
          <a:bodyPr wrap="none" lIns="0" tIns="0" rIns="0" bIns="0" anchor="t" anchorCtr="0">
            <a:spAutoFit/>
          </a:bodyPr>
          <a:lstStyle/>
          <a:p>
            <a:pPr algn="l"/>
            <a:r>
              <a:rPr lang="en-US" sz="2400" b="1" dirty="0">
                <a:solidFill>
                  <a:srgbClr val="1A3A5C"/>
                </a:solidFill>
                <a:latin typeface="Segoe UI"/>
                <a:ea typeface="Segoe UI"/>
                <a:cs typeface="Segoe UI"/>
              </a:rPr>
              <a:t>07</a:t>
            </a:r>
            <a:r>
              <a:rPr lang="en-US" sz="2400" dirty="0">
                <a:solidFill>
                  <a:srgbClr val="2D3436"/>
                </a:solidFill>
                <a:latin typeface="Segoe UI"/>
                <a:ea typeface="Segoe UI"/>
                <a:cs typeface="Segoe UI"/>
              </a:rPr>
              <a:t xml:space="preserve"> </a:t>
            </a:r>
            <a:r>
              <a:rPr lang="zh-CN" sz="2400" dirty="0">
                <a:solidFill>
                  <a:srgbClr val="2D3436"/>
                </a:solidFill>
                <a:latin typeface="Segoe UI"/>
                <a:ea typeface="Microsoft YaHei"/>
                <a:cs typeface="Segoe UI"/>
              </a:rPr>
              <a:t>CRUD 操作演示</a:t>
            </a:r>
          </a:p>
        </p:txBody>
      </p:sp>
      <p:sp>
        <p:nvSpPr>
          <p:cNvPr id="13" name="TextBox 13"/>
          <p:cNvSpPr txBox="1"/>
          <p:nvPr/>
        </p:nvSpPr>
        <p:spPr>
          <a:xfrm>
            <a:off x="1130808" y="5360670"/>
            <a:ext cx="2109917" cy="469392"/>
          </a:xfrm>
          <a:prstGeom prst="rect">
            <a:avLst/>
          </a:prstGeom>
          <a:noFill/>
          <a:ln>
            <a:noFill/>
          </a:ln>
        </p:spPr>
        <p:txBody>
          <a:bodyPr wrap="none" lIns="0" tIns="0" rIns="0" bIns="0" anchor="t" anchorCtr="0">
            <a:spAutoFit/>
          </a:bodyPr>
          <a:lstStyle/>
          <a:p>
            <a:pPr algn="l"/>
            <a:r>
              <a:rPr lang="en-US" sz="2400" b="1" dirty="0">
                <a:solidFill>
                  <a:srgbClr val="1A3A5C"/>
                </a:solidFill>
                <a:latin typeface="Segoe UI"/>
                <a:ea typeface="Segoe UI"/>
                <a:cs typeface="Segoe UI"/>
              </a:rPr>
              <a:t>08</a:t>
            </a:r>
            <a:r>
              <a:rPr lang="en-US" sz="2400" dirty="0">
                <a:solidFill>
                  <a:srgbClr val="2D3436"/>
                </a:solidFill>
                <a:latin typeface="Segoe UI"/>
                <a:ea typeface="Segoe UI"/>
                <a:cs typeface="Segoe UI"/>
              </a:rPr>
              <a:t xml:space="preserve"> </a:t>
            </a:r>
            <a:r>
              <a:rPr lang="zh-CN" sz="2400" dirty="0">
                <a:solidFill>
                  <a:srgbClr val="2D3436"/>
                </a:solidFill>
                <a:latin typeface="Segoe UI"/>
                <a:ea typeface="Microsoft YaHei"/>
                <a:cs typeface="Segoe UI"/>
              </a:rPr>
              <a:t>总结与展望</a:t>
            </a:r>
          </a:p>
        </p:txBody>
      </p:sp>
      <p:sp>
        <p:nvSpPr>
          <p:cNvPr id="14" name="Rectangle 14"/>
          <p:cNvSpPr/>
          <p:nvPr/>
        </p:nvSpPr>
        <p:spPr>
          <a:xfrm>
            <a:off x="762000" y="6191250"/>
            <a:ext cx="10668000" cy="9525"/>
          </a:xfrm>
          <a:prstGeom prst="rect">
            <a:avLst/>
          </a:prstGeom>
          <a:solidFill>
            <a:srgbClr val="DFE6E9"/>
          </a:solidFill>
          <a:ln>
            <a:noFill/>
          </a:ln>
        </p:spPr>
      </p:sp>
      <p:sp>
        <p:nvSpPr>
          <p:cNvPr id="15" name="TextBox 15"/>
          <p:cNvSpPr txBox="1"/>
          <p:nvPr/>
        </p:nvSpPr>
        <p:spPr>
          <a:xfrm>
            <a:off x="10914278" y="6331268"/>
            <a:ext cx="522580" cy="264033"/>
          </a:xfrm>
          <a:prstGeom prst="rect">
            <a:avLst/>
          </a:prstGeom>
          <a:noFill/>
          <a:ln>
            <a:noFill/>
          </a:ln>
        </p:spPr>
        <p:txBody>
          <a:bodyPr wrap="none" lIns="0" tIns="0" rIns="0" bIns="0" anchor="t" anchorCtr="0">
            <a:spAutoFit/>
          </a:bodyPr>
          <a:lstStyle/>
          <a:p>
            <a:pPr algn="r"/>
            <a:r>
              <a:rPr lang="en-US" sz="1350" dirty="0">
                <a:solidFill>
                  <a:srgbClr val="B2BEC3"/>
                </a:solidFill>
                <a:latin typeface="Segoe UI"/>
                <a:ea typeface="Segoe UI"/>
                <a:cs typeface="Segoe UI"/>
              </a:rPr>
              <a:t>2 / 11</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1A3A5C"/>
          </a:solidFill>
          <a:ln>
            <a:noFill/>
          </a:ln>
        </p:spPr>
      </p:sp>
      <p:sp>
        <p:nvSpPr>
          <p:cNvPr id="4" name="TextBox 4"/>
          <p:cNvSpPr txBox="1"/>
          <p:nvPr/>
        </p:nvSpPr>
        <p:spPr>
          <a:xfrm>
            <a:off x="743712" y="297180"/>
            <a:ext cx="2072030" cy="704088"/>
          </a:xfrm>
          <a:prstGeom prst="rect">
            <a:avLst/>
          </a:prstGeom>
          <a:noFill/>
          <a:ln>
            <a:noFill/>
          </a:ln>
        </p:spPr>
        <p:txBody>
          <a:bodyPr wrap="none" lIns="0" tIns="0" rIns="0" bIns="0" anchor="t" anchorCtr="0">
            <a:spAutoFit/>
          </a:bodyPr>
          <a:lstStyle/>
          <a:p>
            <a:pPr algn="l"/>
            <a:r>
              <a:rPr lang="zh-CN" sz="3600" b="1" dirty="0">
                <a:solidFill>
                  <a:srgbClr val="1A3A5C"/>
                </a:solidFill>
                <a:latin typeface="Segoe UI"/>
                <a:ea typeface="Microsoft YaHei"/>
                <a:cs typeface="Segoe UI"/>
              </a:rPr>
              <a:t>系统概述</a:t>
            </a:r>
          </a:p>
        </p:txBody>
      </p:sp>
      <p:sp>
        <p:nvSpPr>
          <p:cNvPr id="5" name="Line 5"/>
          <p:cNvSpPr/>
          <p:nvPr/>
        </p:nvSpPr>
        <p:spPr>
          <a:xfrm>
            <a:off x="762000" y="857250"/>
            <a:ext cx="1905000" cy="9525"/>
          </a:xfrm>
          <a:custGeom>
            <a:avLst/>
            <a:gdLst/>
            <a:ahLst/>
            <a:cxnLst/>
            <a:rect l="l" t="t" r="r" b="b"/>
            <a:pathLst>
              <a:path w="1905000" h="9525">
                <a:moveTo>
                  <a:pt x="0" y="0"/>
                </a:moveTo>
                <a:lnTo>
                  <a:pt x="1905000" y="0"/>
                </a:lnTo>
              </a:path>
            </a:pathLst>
          </a:custGeom>
          <a:noFill/>
          <a:ln w="28575">
            <a:solidFill>
              <a:srgbClr val="00A8A8"/>
            </a:solidFill>
          </a:ln>
        </p:spPr>
      </p:sp>
      <p:sp>
        <p:nvSpPr>
          <p:cNvPr id="6" name="TextBox 6"/>
          <p:cNvSpPr txBox="1"/>
          <p:nvPr/>
        </p:nvSpPr>
        <p:spPr>
          <a:xfrm>
            <a:off x="751332" y="1059180"/>
            <a:ext cx="5311917" cy="410718"/>
          </a:xfrm>
          <a:prstGeom prst="rect">
            <a:avLst/>
          </a:prstGeom>
          <a:noFill/>
          <a:ln>
            <a:noFill/>
          </a:ln>
        </p:spPr>
        <p:txBody>
          <a:bodyPr wrap="none" lIns="0" tIns="0" rIns="0" bIns="0" anchor="t" anchorCtr="0">
            <a:spAutoFit/>
          </a:bodyPr>
          <a:lstStyle/>
          <a:p>
            <a:pPr algn="l"/>
            <a:r>
              <a:rPr lang="zh-CN" sz="2100" dirty="0">
                <a:solidFill>
                  <a:srgbClr val="2D3436"/>
                </a:solidFill>
                <a:latin typeface="Segoe UI"/>
                <a:ea typeface="Microsoft YaHei"/>
                <a:cs typeface="Segoe UI"/>
              </a:rPr>
              <a:t>基于 PostgreSQL 的快递物流数据库平台</a:t>
            </a:r>
          </a:p>
        </p:txBody>
      </p:sp>
      <p:sp>
        <p:nvSpPr>
          <p:cNvPr id="7" name="TextBox 7"/>
          <p:cNvSpPr txBox="1"/>
          <p:nvPr/>
        </p:nvSpPr>
        <p:spPr>
          <a:xfrm>
            <a:off x="751332" y="1411605"/>
            <a:ext cx="5675376" cy="410718"/>
          </a:xfrm>
          <a:prstGeom prst="rect">
            <a:avLst/>
          </a:prstGeom>
          <a:noFill/>
          <a:ln>
            <a:noFill/>
          </a:ln>
        </p:spPr>
        <p:txBody>
          <a:bodyPr wrap="none" lIns="0" tIns="0" rIns="0" bIns="0" anchor="t" anchorCtr="0">
            <a:spAutoFit/>
          </a:bodyPr>
          <a:lstStyle/>
          <a:p>
            <a:pPr algn="l"/>
            <a:r>
              <a:rPr lang="zh-CN" sz="2100" dirty="0">
                <a:solidFill>
                  <a:srgbClr val="2D3436"/>
                </a:solidFill>
                <a:latin typeface="Segoe UI"/>
                <a:ea typeface="Microsoft YaHei"/>
                <a:cs typeface="Segoe UI"/>
              </a:rPr>
              <a:t>支持用户注册登录、快递下单、物流轨迹追踪</a:t>
            </a:r>
          </a:p>
        </p:txBody>
      </p:sp>
      <p:sp>
        <p:nvSpPr>
          <p:cNvPr id="8" name="Line 8"/>
          <p:cNvSpPr/>
          <p:nvPr/>
        </p:nvSpPr>
        <p:spPr>
          <a:xfrm>
            <a:off x="762000" y="1905000"/>
            <a:ext cx="10668000" cy="9525"/>
          </a:xfrm>
          <a:custGeom>
            <a:avLst/>
            <a:gdLst/>
            <a:ahLst/>
            <a:cxnLst/>
            <a:rect l="l" t="t" r="r" b="b"/>
            <a:pathLst>
              <a:path w="10668000" h="9525">
                <a:moveTo>
                  <a:pt x="0" y="0"/>
                </a:moveTo>
                <a:lnTo>
                  <a:pt x="10668000" y="0"/>
                </a:lnTo>
              </a:path>
            </a:pathLst>
          </a:custGeom>
          <a:noFill/>
          <a:ln w="9525">
            <a:solidFill>
              <a:srgbClr val="DFE6E9"/>
            </a:solidFill>
          </a:ln>
        </p:spPr>
      </p:sp>
      <p:sp>
        <p:nvSpPr>
          <p:cNvPr id="9" name="TextBox 9"/>
          <p:cNvSpPr txBox="1"/>
          <p:nvPr/>
        </p:nvSpPr>
        <p:spPr>
          <a:xfrm>
            <a:off x="748284" y="1994535"/>
            <a:ext cx="2317318" cy="528066"/>
          </a:xfrm>
          <a:prstGeom prst="rect">
            <a:avLst/>
          </a:prstGeom>
          <a:noFill/>
          <a:ln>
            <a:noFill/>
          </a:ln>
        </p:spPr>
        <p:txBody>
          <a:bodyPr wrap="none" lIns="0" tIns="0" rIns="0" bIns="0" anchor="t" anchorCtr="0">
            <a:spAutoFit/>
          </a:bodyPr>
          <a:lstStyle/>
          <a:p>
            <a:pPr algn="l"/>
            <a:r>
              <a:rPr lang="zh-CN" sz="2700" b="1" dirty="0">
                <a:solidFill>
                  <a:srgbClr val="1A3A5C"/>
                </a:solidFill>
                <a:latin typeface="Segoe UI"/>
                <a:ea typeface="Microsoft YaHei"/>
                <a:cs typeface="Segoe UI"/>
              </a:rPr>
              <a:t>三类用户角色</a:t>
            </a:r>
          </a:p>
        </p:txBody>
      </p:sp>
      <p:sp>
        <p:nvSpPr>
          <p:cNvPr id="10" name="Rectangle 10"/>
          <p:cNvSpPr/>
          <p:nvPr/>
        </p:nvSpPr>
        <p:spPr>
          <a:xfrm>
            <a:off x="762000" y="2571750"/>
            <a:ext cx="3238500" cy="1714500"/>
          </a:xfrm>
          <a:prstGeom prst="roundRect">
            <a:avLst>
              <a:gd name="adj" fmla="val 2222"/>
            </a:avLst>
          </a:prstGeom>
          <a:solidFill>
            <a:srgbClr val="F5F7FA"/>
          </a:solidFill>
          <a:ln w="9525">
            <a:solidFill>
              <a:srgbClr val="DFE6E9"/>
            </a:solidFill>
          </a:ln>
        </p:spPr>
      </p:sp>
      <p:sp>
        <p:nvSpPr>
          <p:cNvPr id="11" name="TextBox 11"/>
          <p:cNvSpPr txBox="1"/>
          <p:nvPr/>
        </p:nvSpPr>
        <p:spPr>
          <a:xfrm>
            <a:off x="1776908" y="2821305"/>
            <a:ext cx="1208684" cy="410718"/>
          </a:xfrm>
          <a:prstGeom prst="rect">
            <a:avLst/>
          </a:prstGeom>
          <a:noFill/>
          <a:ln>
            <a:noFill/>
          </a:ln>
        </p:spPr>
        <p:txBody>
          <a:bodyPr wrap="none" lIns="0" tIns="0" rIns="0" bIns="0" anchor="t" anchorCtr="0">
            <a:spAutoFit/>
          </a:bodyPr>
          <a:lstStyle/>
          <a:p>
            <a:pPr algn="ctr"/>
            <a:r>
              <a:rPr lang="zh-CN" sz="2100" b="1" dirty="0">
                <a:solidFill>
                  <a:srgbClr val="1A3A5C"/>
                </a:solidFill>
                <a:latin typeface="Segoe UI"/>
                <a:ea typeface="Microsoft YaHei"/>
                <a:cs typeface="Segoe UI"/>
              </a:rPr>
              <a:t>普通用户</a:t>
            </a:r>
          </a:p>
        </p:txBody>
      </p:sp>
      <p:sp>
        <p:nvSpPr>
          <p:cNvPr id="12" name="TextBox 12"/>
          <p:cNvSpPr txBox="1"/>
          <p:nvPr/>
        </p:nvSpPr>
        <p:spPr>
          <a:xfrm>
            <a:off x="1928622" y="3250882"/>
            <a:ext cx="905256" cy="322707"/>
          </a:xfrm>
          <a:prstGeom prst="rect">
            <a:avLst/>
          </a:prstGeom>
          <a:noFill/>
          <a:ln>
            <a:noFill/>
          </a:ln>
        </p:spPr>
        <p:txBody>
          <a:bodyPr wrap="none" lIns="0" tIns="0" rIns="0" bIns="0" anchor="t" anchorCtr="0">
            <a:spAutoFit/>
          </a:bodyPr>
          <a:lstStyle/>
          <a:p>
            <a:pPr algn="ctr"/>
            <a:r>
              <a:rPr lang="zh-CN" sz="1650" dirty="0">
                <a:solidFill>
                  <a:srgbClr val="636E72"/>
                </a:solidFill>
                <a:latin typeface="Segoe UI"/>
                <a:ea typeface="Microsoft YaHei"/>
                <a:cs typeface="Segoe UI"/>
              </a:rPr>
              <a:t>下单快递</a:t>
            </a:r>
          </a:p>
        </p:txBody>
      </p:sp>
      <p:sp>
        <p:nvSpPr>
          <p:cNvPr id="13" name="TextBox 13"/>
          <p:cNvSpPr txBox="1"/>
          <p:nvPr/>
        </p:nvSpPr>
        <p:spPr>
          <a:xfrm>
            <a:off x="1595438" y="3555682"/>
            <a:ext cx="1571625" cy="322707"/>
          </a:xfrm>
          <a:prstGeom prst="rect">
            <a:avLst/>
          </a:prstGeom>
          <a:noFill/>
          <a:ln>
            <a:noFill/>
          </a:ln>
        </p:spPr>
        <p:txBody>
          <a:bodyPr wrap="none" lIns="0" tIns="0" rIns="0" bIns="0" anchor="t" anchorCtr="0">
            <a:spAutoFit/>
          </a:bodyPr>
          <a:lstStyle/>
          <a:p>
            <a:pPr algn="ctr"/>
            <a:r>
              <a:rPr lang="zh-CN" sz="1650" dirty="0">
                <a:solidFill>
                  <a:srgbClr val="636E72"/>
                </a:solidFill>
                <a:latin typeface="Segoe UI"/>
                <a:ea typeface="Microsoft YaHei"/>
                <a:cs typeface="Segoe UI"/>
              </a:rPr>
              <a:t>查询自己的快递</a:t>
            </a:r>
          </a:p>
        </p:txBody>
      </p:sp>
      <p:sp>
        <p:nvSpPr>
          <p:cNvPr id="14" name="TextBox 14"/>
          <p:cNvSpPr txBox="1"/>
          <p:nvPr/>
        </p:nvSpPr>
        <p:spPr>
          <a:xfrm>
            <a:off x="1706499" y="3860482"/>
            <a:ext cx="1349502" cy="322707"/>
          </a:xfrm>
          <a:prstGeom prst="rect">
            <a:avLst/>
          </a:prstGeom>
          <a:noFill/>
          <a:ln>
            <a:noFill/>
          </a:ln>
        </p:spPr>
        <p:txBody>
          <a:bodyPr wrap="none" lIns="0" tIns="0" rIns="0" bIns="0" anchor="t" anchorCtr="0">
            <a:spAutoFit/>
          </a:bodyPr>
          <a:lstStyle/>
          <a:p>
            <a:pPr algn="ctr"/>
            <a:r>
              <a:rPr lang="zh-CN" sz="1650" dirty="0">
                <a:solidFill>
                  <a:srgbClr val="636E72"/>
                </a:solidFill>
                <a:latin typeface="Segoe UI"/>
                <a:ea typeface="Microsoft YaHei"/>
                <a:cs typeface="Segoe UI"/>
              </a:rPr>
              <a:t>凭运单号查询</a:t>
            </a:r>
          </a:p>
        </p:txBody>
      </p:sp>
      <p:sp>
        <p:nvSpPr>
          <p:cNvPr id="15" name="Rectangle 15"/>
          <p:cNvSpPr/>
          <p:nvPr/>
        </p:nvSpPr>
        <p:spPr>
          <a:xfrm>
            <a:off x="4476750" y="2571750"/>
            <a:ext cx="3238500" cy="1714500"/>
          </a:xfrm>
          <a:prstGeom prst="roundRect">
            <a:avLst>
              <a:gd name="adj" fmla="val 2222"/>
            </a:avLst>
          </a:prstGeom>
          <a:solidFill>
            <a:srgbClr val="F5F7FA"/>
          </a:solidFill>
          <a:ln w="9525">
            <a:solidFill>
              <a:srgbClr val="DFE6E9"/>
            </a:solidFill>
          </a:ln>
        </p:spPr>
      </p:sp>
      <p:sp>
        <p:nvSpPr>
          <p:cNvPr id="16" name="TextBox 16"/>
          <p:cNvSpPr txBox="1"/>
          <p:nvPr/>
        </p:nvSpPr>
        <p:spPr>
          <a:xfrm>
            <a:off x="5640076" y="2821305"/>
            <a:ext cx="911847" cy="410718"/>
          </a:xfrm>
          <a:prstGeom prst="rect">
            <a:avLst/>
          </a:prstGeom>
          <a:noFill/>
          <a:ln>
            <a:noFill/>
          </a:ln>
        </p:spPr>
        <p:txBody>
          <a:bodyPr wrap="none" lIns="0" tIns="0" rIns="0" bIns="0" anchor="t" anchorCtr="0">
            <a:spAutoFit/>
          </a:bodyPr>
          <a:lstStyle/>
          <a:p>
            <a:pPr algn="ctr"/>
            <a:r>
              <a:rPr lang="zh-CN" sz="2100" b="1" dirty="0">
                <a:solidFill>
                  <a:srgbClr val="1A3A5C"/>
                </a:solidFill>
                <a:latin typeface="Segoe UI"/>
                <a:ea typeface="Microsoft YaHei"/>
                <a:cs typeface="Segoe UI"/>
              </a:rPr>
              <a:t>快递员</a:t>
            </a:r>
          </a:p>
        </p:txBody>
      </p:sp>
      <p:sp>
        <p:nvSpPr>
          <p:cNvPr id="17" name="TextBox 17"/>
          <p:cNvSpPr txBox="1"/>
          <p:nvPr/>
        </p:nvSpPr>
        <p:spPr>
          <a:xfrm>
            <a:off x="5310188" y="3346132"/>
            <a:ext cx="1571625" cy="322707"/>
          </a:xfrm>
          <a:prstGeom prst="rect">
            <a:avLst/>
          </a:prstGeom>
          <a:noFill/>
          <a:ln>
            <a:noFill/>
          </a:ln>
        </p:spPr>
        <p:txBody>
          <a:bodyPr wrap="none" lIns="0" tIns="0" rIns="0" bIns="0" anchor="t" anchorCtr="0">
            <a:spAutoFit/>
          </a:bodyPr>
          <a:lstStyle/>
          <a:p>
            <a:pPr algn="ctr"/>
            <a:r>
              <a:rPr lang="zh-CN" sz="1650" dirty="0">
                <a:solidFill>
                  <a:srgbClr val="636E72"/>
                </a:solidFill>
                <a:latin typeface="Segoe UI"/>
                <a:ea typeface="Microsoft YaHei"/>
                <a:cs typeface="Segoe UI"/>
              </a:rPr>
              <a:t>查看本站点包裹</a:t>
            </a:r>
          </a:p>
        </p:txBody>
      </p:sp>
      <p:sp>
        <p:nvSpPr>
          <p:cNvPr id="18" name="TextBox 18"/>
          <p:cNvSpPr txBox="1"/>
          <p:nvPr/>
        </p:nvSpPr>
        <p:spPr>
          <a:xfrm>
            <a:off x="5421249" y="3650932"/>
            <a:ext cx="1349502" cy="322707"/>
          </a:xfrm>
          <a:prstGeom prst="rect">
            <a:avLst/>
          </a:prstGeom>
          <a:noFill/>
          <a:ln>
            <a:noFill/>
          </a:ln>
        </p:spPr>
        <p:txBody>
          <a:bodyPr wrap="none" lIns="0" tIns="0" rIns="0" bIns="0" anchor="t" anchorCtr="0">
            <a:spAutoFit/>
          </a:bodyPr>
          <a:lstStyle/>
          <a:p>
            <a:pPr algn="ctr"/>
            <a:r>
              <a:rPr lang="zh-CN" sz="1650" dirty="0">
                <a:solidFill>
                  <a:srgbClr val="636E72"/>
                </a:solidFill>
                <a:latin typeface="Segoe UI"/>
                <a:ea typeface="Microsoft YaHei"/>
                <a:cs typeface="Segoe UI"/>
              </a:rPr>
              <a:t>更新物流状态</a:t>
            </a:r>
          </a:p>
        </p:txBody>
      </p:sp>
      <p:sp>
        <p:nvSpPr>
          <p:cNvPr id="19" name="Rectangle 19"/>
          <p:cNvSpPr/>
          <p:nvPr/>
        </p:nvSpPr>
        <p:spPr>
          <a:xfrm>
            <a:off x="8191500" y="2571750"/>
            <a:ext cx="3238500" cy="1714500"/>
          </a:xfrm>
          <a:prstGeom prst="roundRect">
            <a:avLst>
              <a:gd name="adj" fmla="val 2222"/>
            </a:avLst>
          </a:prstGeom>
          <a:solidFill>
            <a:srgbClr val="F5F7FA"/>
          </a:solidFill>
          <a:ln w="9525">
            <a:solidFill>
              <a:srgbClr val="DFE6E9"/>
            </a:solidFill>
          </a:ln>
        </p:spPr>
      </p:sp>
      <p:sp>
        <p:nvSpPr>
          <p:cNvPr id="20" name="TextBox 20"/>
          <p:cNvSpPr txBox="1"/>
          <p:nvPr/>
        </p:nvSpPr>
        <p:spPr>
          <a:xfrm>
            <a:off x="9354826" y="2821305"/>
            <a:ext cx="911847" cy="410718"/>
          </a:xfrm>
          <a:prstGeom prst="rect">
            <a:avLst/>
          </a:prstGeom>
          <a:noFill/>
          <a:ln>
            <a:noFill/>
          </a:ln>
        </p:spPr>
        <p:txBody>
          <a:bodyPr wrap="none" lIns="0" tIns="0" rIns="0" bIns="0" anchor="t" anchorCtr="0">
            <a:spAutoFit/>
          </a:bodyPr>
          <a:lstStyle/>
          <a:p>
            <a:pPr algn="ctr"/>
            <a:r>
              <a:rPr lang="zh-CN" sz="2100" b="1" dirty="0">
                <a:solidFill>
                  <a:srgbClr val="1A3A5C"/>
                </a:solidFill>
                <a:latin typeface="Segoe UI"/>
                <a:ea typeface="Microsoft YaHei"/>
                <a:cs typeface="Segoe UI"/>
              </a:rPr>
              <a:t>管理员</a:t>
            </a:r>
          </a:p>
        </p:txBody>
      </p:sp>
      <p:sp>
        <p:nvSpPr>
          <p:cNvPr id="21" name="TextBox 21"/>
          <p:cNvSpPr txBox="1"/>
          <p:nvPr/>
        </p:nvSpPr>
        <p:spPr>
          <a:xfrm>
            <a:off x="9135999" y="3346132"/>
            <a:ext cx="1349502" cy="322707"/>
          </a:xfrm>
          <a:prstGeom prst="rect">
            <a:avLst/>
          </a:prstGeom>
          <a:noFill/>
          <a:ln>
            <a:noFill/>
          </a:ln>
        </p:spPr>
        <p:txBody>
          <a:bodyPr wrap="none" lIns="0" tIns="0" rIns="0" bIns="0" anchor="t" anchorCtr="0">
            <a:spAutoFit/>
          </a:bodyPr>
          <a:lstStyle/>
          <a:p>
            <a:pPr algn="ctr"/>
            <a:r>
              <a:rPr lang="zh-CN" sz="1650" dirty="0">
                <a:solidFill>
                  <a:srgbClr val="636E72"/>
                </a:solidFill>
                <a:latin typeface="Segoe UI"/>
                <a:ea typeface="Microsoft YaHei"/>
                <a:cs typeface="Segoe UI"/>
              </a:rPr>
              <a:t>全量数据操作</a:t>
            </a:r>
          </a:p>
        </p:txBody>
      </p:sp>
      <p:sp>
        <p:nvSpPr>
          <p:cNvPr id="22" name="TextBox 22"/>
          <p:cNvSpPr txBox="1"/>
          <p:nvPr/>
        </p:nvSpPr>
        <p:spPr>
          <a:xfrm>
            <a:off x="9135999" y="3650932"/>
            <a:ext cx="1349502" cy="322707"/>
          </a:xfrm>
          <a:prstGeom prst="rect">
            <a:avLst/>
          </a:prstGeom>
          <a:noFill/>
          <a:ln>
            <a:noFill/>
          </a:ln>
        </p:spPr>
        <p:txBody>
          <a:bodyPr wrap="none" lIns="0" tIns="0" rIns="0" bIns="0" anchor="t" anchorCtr="0">
            <a:spAutoFit/>
          </a:bodyPr>
          <a:lstStyle/>
          <a:p>
            <a:pPr algn="ctr"/>
            <a:r>
              <a:rPr lang="zh-CN" sz="1650" dirty="0">
                <a:solidFill>
                  <a:srgbClr val="636E72"/>
                </a:solidFill>
                <a:latin typeface="Segoe UI"/>
                <a:ea typeface="Microsoft YaHei"/>
                <a:cs typeface="Segoe UI"/>
              </a:rPr>
              <a:t>系统管理维护</a:t>
            </a:r>
          </a:p>
        </p:txBody>
      </p:sp>
      <p:sp>
        <p:nvSpPr>
          <p:cNvPr id="23" name="TextBox 23"/>
          <p:cNvSpPr txBox="1"/>
          <p:nvPr/>
        </p:nvSpPr>
        <p:spPr>
          <a:xfrm>
            <a:off x="748284" y="4518660"/>
            <a:ext cx="2317318" cy="528066"/>
          </a:xfrm>
          <a:prstGeom prst="rect">
            <a:avLst/>
          </a:prstGeom>
          <a:noFill/>
          <a:ln>
            <a:noFill/>
          </a:ln>
        </p:spPr>
        <p:txBody>
          <a:bodyPr wrap="none" lIns="0" tIns="0" rIns="0" bIns="0" anchor="t" anchorCtr="0">
            <a:spAutoFit/>
          </a:bodyPr>
          <a:lstStyle/>
          <a:p>
            <a:pPr algn="l"/>
            <a:r>
              <a:rPr lang="zh-CN" sz="2700" b="1" dirty="0">
                <a:solidFill>
                  <a:srgbClr val="1A3A5C"/>
                </a:solidFill>
                <a:latin typeface="Segoe UI"/>
                <a:ea typeface="Microsoft YaHei"/>
                <a:cs typeface="Segoe UI"/>
              </a:rPr>
              <a:t>核心业务流程</a:t>
            </a:r>
          </a:p>
        </p:txBody>
      </p:sp>
      <p:sp>
        <p:nvSpPr>
          <p:cNvPr id="24" name="Rectangle 24"/>
          <p:cNvSpPr/>
          <p:nvPr/>
        </p:nvSpPr>
        <p:spPr>
          <a:xfrm>
            <a:off x="1143000" y="5143500"/>
            <a:ext cx="1524000" cy="476250"/>
          </a:xfrm>
          <a:prstGeom prst="roundRect">
            <a:avLst>
              <a:gd name="adj" fmla="val 8000"/>
            </a:avLst>
          </a:prstGeom>
          <a:solidFill>
            <a:srgbClr val="1A3A5C"/>
          </a:solidFill>
          <a:ln>
            <a:noFill/>
          </a:ln>
        </p:spPr>
      </p:sp>
      <p:sp>
        <p:nvSpPr>
          <p:cNvPr id="25" name="TextBox 25"/>
          <p:cNvSpPr txBox="1"/>
          <p:nvPr/>
        </p:nvSpPr>
        <p:spPr>
          <a:xfrm>
            <a:off x="1597495" y="5221605"/>
            <a:ext cx="615010"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Segoe UI"/>
                <a:ea typeface="Microsoft YaHei"/>
                <a:cs typeface="Segoe UI"/>
              </a:rPr>
              <a:t>下单</a:t>
            </a:r>
          </a:p>
        </p:txBody>
      </p:sp>
      <p:sp>
        <p:nvSpPr>
          <p:cNvPr id="26" name="TextBox 26"/>
          <p:cNvSpPr txBox="1"/>
          <p:nvPr/>
        </p:nvSpPr>
        <p:spPr>
          <a:xfrm>
            <a:off x="2839079" y="5156835"/>
            <a:ext cx="227343" cy="528066"/>
          </a:xfrm>
          <a:prstGeom prst="rect">
            <a:avLst/>
          </a:prstGeom>
          <a:noFill/>
          <a:ln>
            <a:noFill/>
          </a:ln>
        </p:spPr>
        <p:txBody>
          <a:bodyPr wrap="none" lIns="0" tIns="0" rIns="0" bIns="0" anchor="t" anchorCtr="0">
            <a:spAutoFit/>
          </a:bodyPr>
          <a:lstStyle/>
          <a:p>
            <a:pPr algn="ctr"/>
            <a:r>
              <a:rPr lang="en-US" sz="2700" dirty="0">
                <a:solidFill>
                  <a:srgbClr val="00A8A8"/>
                </a:solidFill>
                <a:latin typeface="Segoe UI"/>
                <a:ea typeface="Segoe UI"/>
                <a:cs typeface="Segoe UI"/>
              </a:rPr>
              <a:t>→</a:t>
            </a:r>
          </a:p>
        </p:txBody>
      </p:sp>
      <p:sp>
        <p:nvSpPr>
          <p:cNvPr id="27" name="Rectangle 27"/>
          <p:cNvSpPr/>
          <p:nvPr/>
        </p:nvSpPr>
        <p:spPr>
          <a:xfrm>
            <a:off x="3333750" y="5143500"/>
            <a:ext cx="1905000" cy="476250"/>
          </a:xfrm>
          <a:prstGeom prst="roundRect">
            <a:avLst>
              <a:gd name="adj" fmla="val 8000"/>
            </a:avLst>
          </a:prstGeom>
          <a:solidFill>
            <a:srgbClr val="1A3A5C"/>
          </a:solidFill>
          <a:ln>
            <a:noFill/>
          </a:ln>
        </p:spPr>
      </p:sp>
      <p:sp>
        <p:nvSpPr>
          <p:cNvPr id="28" name="TextBox 28"/>
          <p:cNvSpPr txBox="1"/>
          <p:nvPr/>
        </p:nvSpPr>
        <p:spPr>
          <a:xfrm>
            <a:off x="3681908" y="5221605"/>
            <a:ext cx="1208684"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Segoe UI"/>
                <a:ea typeface="Microsoft YaHei"/>
                <a:cs typeface="Segoe UI"/>
              </a:rPr>
              <a:t>分配站点</a:t>
            </a:r>
          </a:p>
        </p:txBody>
      </p:sp>
      <p:sp>
        <p:nvSpPr>
          <p:cNvPr id="29" name="TextBox 29"/>
          <p:cNvSpPr txBox="1"/>
          <p:nvPr/>
        </p:nvSpPr>
        <p:spPr>
          <a:xfrm>
            <a:off x="5410829" y="5156835"/>
            <a:ext cx="227343" cy="528066"/>
          </a:xfrm>
          <a:prstGeom prst="rect">
            <a:avLst/>
          </a:prstGeom>
          <a:noFill/>
          <a:ln>
            <a:noFill/>
          </a:ln>
        </p:spPr>
        <p:txBody>
          <a:bodyPr wrap="none" lIns="0" tIns="0" rIns="0" bIns="0" anchor="t" anchorCtr="0">
            <a:spAutoFit/>
          </a:bodyPr>
          <a:lstStyle/>
          <a:p>
            <a:pPr algn="ctr"/>
            <a:r>
              <a:rPr lang="en-US" sz="2700" dirty="0">
                <a:solidFill>
                  <a:srgbClr val="00A8A8"/>
                </a:solidFill>
                <a:latin typeface="Segoe UI"/>
                <a:ea typeface="Segoe UI"/>
                <a:cs typeface="Segoe UI"/>
              </a:rPr>
              <a:t>→</a:t>
            </a:r>
          </a:p>
        </p:txBody>
      </p:sp>
      <p:sp>
        <p:nvSpPr>
          <p:cNvPr id="30" name="Rectangle 30"/>
          <p:cNvSpPr/>
          <p:nvPr/>
        </p:nvSpPr>
        <p:spPr>
          <a:xfrm>
            <a:off x="5905500" y="5143500"/>
            <a:ext cx="1905000" cy="476250"/>
          </a:xfrm>
          <a:prstGeom prst="roundRect">
            <a:avLst>
              <a:gd name="adj" fmla="val 8000"/>
            </a:avLst>
          </a:prstGeom>
          <a:solidFill>
            <a:srgbClr val="1A3A5C"/>
          </a:solidFill>
          <a:ln>
            <a:noFill/>
          </a:ln>
        </p:spPr>
      </p:sp>
      <p:sp>
        <p:nvSpPr>
          <p:cNvPr id="31" name="TextBox 31"/>
          <p:cNvSpPr txBox="1"/>
          <p:nvPr/>
        </p:nvSpPr>
        <p:spPr>
          <a:xfrm>
            <a:off x="6253658" y="5221605"/>
            <a:ext cx="1208684"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Segoe UI"/>
                <a:ea typeface="Microsoft YaHei"/>
                <a:cs typeface="Segoe UI"/>
              </a:rPr>
              <a:t>取件运输</a:t>
            </a:r>
          </a:p>
        </p:txBody>
      </p:sp>
      <p:sp>
        <p:nvSpPr>
          <p:cNvPr id="32" name="TextBox 32"/>
          <p:cNvSpPr txBox="1"/>
          <p:nvPr/>
        </p:nvSpPr>
        <p:spPr>
          <a:xfrm>
            <a:off x="7982579" y="5156835"/>
            <a:ext cx="227343" cy="528066"/>
          </a:xfrm>
          <a:prstGeom prst="rect">
            <a:avLst/>
          </a:prstGeom>
          <a:noFill/>
          <a:ln>
            <a:noFill/>
          </a:ln>
        </p:spPr>
        <p:txBody>
          <a:bodyPr wrap="none" lIns="0" tIns="0" rIns="0" bIns="0" anchor="t" anchorCtr="0">
            <a:spAutoFit/>
          </a:bodyPr>
          <a:lstStyle/>
          <a:p>
            <a:pPr algn="ctr"/>
            <a:r>
              <a:rPr lang="en-US" sz="2700" dirty="0">
                <a:solidFill>
                  <a:srgbClr val="00A8A8"/>
                </a:solidFill>
                <a:latin typeface="Segoe UI"/>
                <a:ea typeface="Segoe UI"/>
                <a:cs typeface="Segoe UI"/>
              </a:rPr>
              <a:t>→</a:t>
            </a:r>
          </a:p>
        </p:txBody>
      </p:sp>
      <p:sp>
        <p:nvSpPr>
          <p:cNvPr id="33" name="Rectangle 33"/>
          <p:cNvSpPr/>
          <p:nvPr/>
        </p:nvSpPr>
        <p:spPr>
          <a:xfrm>
            <a:off x="8477250" y="5143500"/>
            <a:ext cx="1905000" cy="476250"/>
          </a:xfrm>
          <a:prstGeom prst="roundRect">
            <a:avLst>
              <a:gd name="adj" fmla="val 8000"/>
            </a:avLst>
          </a:prstGeom>
          <a:solidFill>
            <a:srgbClr val="1A3A5C"/>
          </a:solidFill>
          <a:ln>
            <a:noFill/>
          </a:ln>
        </p:spPr>
      </p:sp>
      <p:sp>
        <p:nvSpPr>
          <p:cNvPr id="34" name="TextBox 34"/>
          <p:cNvSpPr txBox="1"/>
          <p:nvPr/>
        </p:nvSpPr>
        <p:spPr>
          <a:xfrm>
            <a:off x="9122245" y="5221605"/>
            <a:ext cx="615010"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Segoe UI"/>
                <a:ea typeface="Microsoft YaHei"/>
                <a:cs typeface="Segoe UI"/>
              </a:rPr>
              <a:t>签收</a:t>
            </a:r>
          </a:p>
        </p:txBody>
      </p:sp>
      <p:sp>
        <p:nvSpPr>
          <p:cNvPr id="35" name="Rectangle 35"/>
          <p:cNvSpPr/>
          <p:nvPr/>
        </p:nvSpPr>
        <p:spPr>
          <a:xfrm>
            <a:off x="762000" y="6191250"/>
            <a:ext cx="10668000" cy="9525"/>
          </a:xfrm>
          <a:prstGeom prst="rect">
            <a:avLst/>
          </a:prstGeom>
          <a:solidFill>
            <a:srgbClr val="DFE6E9"/>
          </a:solidFill>
          <a:ln>
            <a:noFill/>
          </a:ln>
        </p:spPr>
      </p:sp>
      <p:sp>
        <p:nvSpPr>
          <p:cNvPr id="36" name="TextBox 36"/>
          <p:cNvSpPr txBox="1"/>
          <p:nvPr/>
        </p:nvSpPr>
        <p:spPr>
          <a:xfrm>
            <a:off x="10914278" y="6331268"/>
            <a:ext cx="522580" cy="264033"/>
          </a:xfrm>
          <a:prstGeom prst="rect">
            <a:avLst/>
          </a:prstGeom>
          <a:noFill/>
          <a:ln>
            <a:noFill/>
          </a:ln>
        </p:spPr>
        <p:txBody>
          <a:bodyPr wrap="none" lIns="0" tIns="0" rIns="0" bIns="0" anchor="t" anchorCtr="0">
            <a:spAutoFit/>
          </a:bodyPr>
          <a:lstStyle/>
          <a:p>
            <a:pPr algn="r"/>
            <a:r>
              <a:rPr lang="en-US" sz="1350" dirty="0">
                <a:solidFill>
                  <a:srgbClr val="B2BEC3"/>
                </a:solidFill>
                <a:latin typeface="Segoe UI"/>
                <a:ea typeface="Segoe UI"/>
                <a:cs typeface="Segoe UI"/>
              </a:rPr>
              <a:t>3 / 11</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1A3A5C"/>
          </a:solidFill>
          <a:ln>
            <a:noFill/>
          </a:ln>
        </p:spPr>
      </p:sp>
      <p:sp>
        <p:nvSpPr>
          <p:cNvPr id="4" name="TextBox 4"/>
          <p:cNvSpPr txBox="1"/>
          <p:nvPr/>
        </p:nvSpPr>
        <p:spPr>
          <a:xfrm>
            <a:off x="743712" y="297180"/>
            <a:ext cx="2072030" cy="704088"/>
          </a:xfrm>
          <a:prstGeom prst="rect">
            <a:avLst/>
          </a:prstGeom>
          <a:noFill/>
          <a:ln>
            <a:noFill/>
          </a:ln>
        </p:spPr>
        <p:txBody>
          <a:bodyPr wrap="none" lIns="0" tIns="0" rIns="0" bIns="0" anchor="t" anchorCtr="0">
            <a:spAutoFit/>
          </a:bodyPr>
          <a:lstStyle/>
          <a:p>
            <a:pPr algn="l"/>
            <a:r>
              <a:rPr lang="zh-CN" sz="3600" b="1" dirty="0">
                <a:solidFill>
                  <a:srgbClr val="1A3A5C"/>
                </a:solidFill>
                <a:latin typeface="Segoe UI"/>
                <a:ea typeface="Microsoft YaHei"/>
                <a:cs typeface="Segoe UI"/>
              </a:rPr>
              <a:t>需求分析</a:t>
            </a:r>
          </a:p>
        </p:txBody>
      </p:sp>
      <p:sp>
        <p:nvSpPr>
          <p:cNvPr id="5" name="Line 5"/>
          <p:cNvSpPr/>
          <p:nvPr/>
        </p:nvSpPr>
        <p:spPr>
          <a:xfrm>
            <a:off x="762000" y="857250"/>
            <a:ext cx="1524000" cy="9525"/>
          </a:xfrm>
          <a:custGeom>
            <a:avLst/>
            <a:gdLst/>
            <a:ahLst/>
            <a:cxnLst/>
            <a:rect l="l" t="t" r="r" b="b"/>
            <a:pathLst>
              <a:path w="1524000" h="9525">
                <a:moveTo>
                  <a:pt x="0" y="0"/>
                </a:moveTo>
                <a:lnTo>
                  <a:pt x="1524000" y="0"/>
                </a:lnTo>
              </a:path>
            </a:pathLst>
          </a:custGeom>
          <a:noFill/>
          <a:ln w="28575">
            <a:solidFill>
              <a:srgbClr val="00A8A8"/>
            </a:solidFill>
          </a:ln>
        </p:spPr>
      </p:sp>
      <p:sp>
        <p:nvSpPr>
          <p:cNvPr id="6" name="Rectangle 6"/>
          <p:cNvSpPr/>
          <p:nvPr/>
        </p:nvSpPr>
        <p:spPr>
          <a:xfrm>
            <a:off x="762000" y="1047750"/>
            <a:ext cx="10668000" cy="619125"/>
          </a:xfrm>
          <a:prstGeom prst="roundRect">
            <a:avLst>
              <a:gd name="adj" fmla="val 6154"/>
            </a:avLst>
          </a:prstGeom>
          <a:solidFill>
            <a:srgbClr val="F5F7FA"/>
          </a:solidFill>
          <a:ln w="9525">
            <a:solidFill>
              <a:srgbClr val="DFE6E9"/>
            </a:solidFill>
          </a:ln>
        </p:spPr>
      </p:sp>
      <p:sp>
        <p:nvSpPr>
          <p:cNvPr id="7" name="TextBox 7"/>
          <p:cNvSpPr txBox="1"/>
          <p:nvPr/>
        </p:nvSpPr>
        <p:spPr>
          <a:xfrm>
            <a:off x="1135380" y="1095375"/>
            <a:ext cx="863346" cy="293370"/>
          </a:xfrm>
          <a:prstGeom prst="rect">
            <a:avLst/>
          </a:prstGeom>
          <a:noFill/>
          <a:ln>
            <a:noFill/>
          </a:ln>
        </p:spPr>
        <p:txBody>
          <a:bodyPr wrap="none" lIns="0" tIns="0" rIns="0" bIns="0" anchor="t" anchorCtr="0">
            <a:spAutoFit/>
          </a:bodyPr>
          <a:lstStyle/>
          <a:p>
            <a:pPr algn="l"/>
            <a:r>
              <a:rPr lang="zh-CN" sz="1500" b="1" dirty="0">
                <a:solidFill>
                  <a:srgbClr val="1A3A5C"/>
                </a:solidFill>
                <a:latin typeface="Segoe UI"/>
                <a:ea typeface="Microsoft YaHei"/>
                <a:cs typeface="Segoe UI"/>
              </a:rPr>
              <a:t>题目要求</a:t>
            </a:r>
          </a:p>
        </p:txBody>
      </p:sp>
      <p:sp>
        <p:nvSpPr>
          <p:cNvPr id="8" name="TextBox 8"/>
          <p:cNvSpPr txBox="1"/>
          <p:nvPr/>
        </p:nvSpPr>
        <p:spPr>
          <a:xfrm>
            <a:off x="2183130" y="1095375"/>
            <a:ext cx="7244334"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三类用户注册登录 | 普通用户下单、查快递、凭运单号查询 | 快递员查本站点包裹</a:t>
            </a:r>
          </a:p>
        </p:txBody>
      </p:sp>
      <p:sp>
        <p:nvSpPr>
          <p:cNvPr id="9" name="TextBox 9"/>
          <p:cNvSpPr txBox="1"/>
          <p:nvPr/>
        </p:nvSpPr>
        <p:spPr>
          <a:xfrm>
            <a:off x="1135380" y="1362075"/>
            <a:ext cx="8657844"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下单记录始发地、目的地、重量 | 站点分配快递员取件 | 记录每段运输的当前站、下一站、快递员</a:t>
            </a:r>
          </a:p>
        </p:txBody>
      </p:sp>
      <p:sp>
        <p:nvSpPr>
          <p:cNvPr id="10" name="TextBox 10"/>
          <p:cNvSpPr txBox="1"/>
          <p:nvPr/>
        </p:nvSpPr>
        <p:spPr>
          <a:xfrm>
            <a:off x="748284" y="1661160"/>
            <a:ext cx="2870347" cy="528066"/>
          </a:xfrm>
          <a:prstGeom prst="rect">
            <a:avLst/>
          </a:prstGeom>
          <a:noFill/>
          <a:ln>
            <a:noFill/>
          </a:ln>
        </p:spPr>
        <p:txBody>
          <a:bodyPr wrap="none" lIns="0" tIns="0" rIns="0" bIns="0" anchor="t" anchorCtr="0">
            <a:spAutoFit/>
          </a:bodyPr>
          <a:lstStyle/>
          <a:p>
            <a:pPr algn="l"/>
            <a:r>
              <a:rPr lang="zh-CN" sz="2700" b="1" dirty="0">
                <a:solidFill>
                  <a:srgbClr val="1A3A5C"/>
                </a:solidFill>
                <a:latin typeface="Segoe UI"/>
                <a:ea typeface="Microsoft YaHei"/>
                <a:cs typeface="Segoe UI"/>
              </a:rPr>
              <a:t>数据流图 (DFD)</a:t>
            </a:r>
          </a:p>
        </p:txBody>
      </p:sp>
      <p:sp>
        <p:nvSpPr>
          <p:cNvPr id="11" name="Rectangle 11"/>
          <p:cNvSpPr/>
          <p:nvPr/>
        </p:nvSpPr>
        <p:spPr>
          <a:xfrm>
            <a:off x="762000" y="2143125"/>
            <a:ext cx="5143500" cy="419100"/>
          </a:xfrm>
          <a:prstGeom prst="roundRect">
            <a:avLst>
              <a:gd name="adj" fmla="val 9091"/>
            </a:avLst>
          </a:prstGeom>
          <a:solidFill>
            <a:srgbClr val="1A3A5C"/>
          </a:solidFill>
          <a:ln>
            <a:noFill/>
          </a:ln>
        </p:spPr>
      </p:sp>
      <p:sp>
        <p:nvSpPr>
          <p:cNvPr id="12" name="TextBox 12"/>
          <p:cNvSpPr txBox="1"/>
          <p:nvPr/>
        </p:nvSpPr>
        <p:spPr>
          <a:xfrm>
            <a:off x="1140333" y="2215515"/>
            <a:ext cx="4386834"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Segoe UI"/>
                <a:ea typeface="Microsoft YaHei"/>
                <a:cs typeface="Segoe UI"/>
              </a:rPr>
              <a:t>顶层 DFD：三类用户 → 系统 → 数据库</a:t>
            </a:r>
          </a:p>
        </p:txBody>
      </p:sp>
      <p:sp>
        <p:nvSpPr>
          <p:cNvPr id="13" name="Rectangle 13"/>
          <p:cNvSpPr/>
          <p:nvPr/>
        </p:nvSpPr>
        <p:spPr>
          <a:xfrm>
            <a:off x="762000" y="2667000"/>
            <a:ext cx="5143500" cy="1000125"/>
          </a:xfrm>
          <a:prstGeom prst="roundRect">
            <a:avLst>
              <a:gd name="adj" fmla="val 3810"/>
            </a:avLst>
          </a:prstGeom>
          <a:solidFill>
            <a:srgbClr val="F5F7FA"/>
          </a:solidFill>
          <a:ln w="9525">
            <a:solidFill>
              <a:srgbClr val="DFE6E9"/>
            </a:solidFill>
          </a:ln>
        </p:spPr>
      </p:sp>
      <p:sp>
        <p:nvSpPr>
          <p:cNvPr id="14" name="TextBox 14"/>
          <p:cNvSpPr txBox="1"/>
          <p:nvPr/>
        </p:nvSpPr>
        <p:spPr>
          <a:xfrm>
            <a:off x="944118" y="2755582"/>
            <a:ext cx="2468750" cy="322707"/>
          </a:xfrm>
          <a:prstGeom prst="rect">
            <a:avLst/>
          </a:prstGeom>
          <a:noFill/>
          <a:ln>
            <a:noFill/>
          </a:ln>
        </p:spPr>
        <p:txBody>
          <a:bodyPr wrap="none" lIns="0" tIns="0" rIns="0" bIns="0" anchor="t" anchorCtr="0">
            <a:spAutoFit/>
          </a:bodyPr>
          <a:lstStyle/>
          <a:p>
            <a:pPr algn="l"/>
            <a:r>
              <a:rPr lang="zh-CN" sz="1650" b="1" dirty="0">
                <a:solidFill>
                  <a:srgbClr val="2D3436"/>
                </a:solidFill>
                <a:latin typeface="Segoe UI"/>
                <a:ea typeface="Microsoft YaHei"/>
                <a:cs typeface="Segoe UI"/>
              </a:rPr>
              <a:t>0 层 DFD — 四个子系统</a:t>
            </a:r>
          </a:p>
        </p:txBody>
      </p:sp>
      <p:sp>
        <p:nvSpPr>
          <p:cNvPr id="15" name="TextBox 15"/>
          <p:cNvSpPr txBox="1"/>
          <p:nvPr/>
        </p:nvSpPr>
        <p:spPr>
          <a:xfrm>
            <a:off x="1040130" y="3057525"/>
            <a:ext cx="3246120"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① 用户管理 — 注册、登录、角色鉴权</a:t>
            </a:r>
          </a:p>
        </p:txBody>
      </p:sp>
      <p:sp>
        <p:nvSpPr>
          <p:cNvPr id="16" name="TextBox 16"/>
          <p:cNvSpPr txBox="1"/>
          <p:nvPr/>
        </p:nvSpPr>
        <p:spPr>
          <a:xfrm>
            <a:off x="1040130" y="3295650"/>
            <a:ext cx="3649980"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② 快递下单 — 下单、校验、分配站点取件</a:t>
            </a:r>
          </a:p>
        </p:txBody>
      </p:sp>
      <p:sp>
        <p:nvSpPr>
          <p:cNvPr id="17" name="Rectangle 17"/>
          <p:cNvSpPr/>
          <p:nvPr/>
        </p:nvSpPr>
        <p:spPr>
          <a:xfrm>
            <a:off x="762000" y="3771900"/>
            <a:ext cx="5143500" cy="523875"/>
          </a:xfrm>
          <a:prstGeom prst="roundRect">
            <a:avLst>
              <a:gd name="adj" fmla="val 7273"/>
            </a:avLst>
          </a:prstGeom>
          <a:solidFill>
            <a:srgbClr val="F5F7FA"/>
          </a:solidFill>
          <a:ln w="9525">
            <a:solidFill>
              <a:srgbClr val="DFE6E9"/>
            </a:solidFill>
          </a:ln>
        </p:spPr>
      </p:sp>
      <p:sp>
        <p:nvSpPr>
          <p:cNvPr id="18" name="TextBox 18"/>
          <p:cNvSpPr txBox="1"/>
          <p:nvPr/>
        </p:nvSpPr>
        <p:spPr>
          <a:xfrm>
            <a:off x="944880" y="3838575"/>
            <a:ext cx="3619691" cy="293370"/>
          </a:xfrm>
          <a:prstGeom prst="rect">
            <a:avLst/>
          </a:prstGeom>
          <a:noFill/>
          <a:ln>
            <a:noFill/>
          </a:ln>
        </p:spPr>
        <p:txBody>
          <a:bodyPr wrap="none" lIns="0" tIns="0" rIns="0" bIns="0" anchor="t" anchorCtr="0">
            <a:spAutoFit/>
          </a:bodyPr>
          <a:lstStyle/>
          <a:p>
            <a:pPr algn="l"/>
            <a:r>
              <a:rPr lang="zh-CN" sz="1500" b="1" dirty="0">
                <a:solidFill>
                  <a:srgbClr val="2D3436"/>
                </a:solidFill>
                <a:latin typeface="Segoe UI"/>
                <a:ea typeface="Microsoft YaHei"/>
                <a:cs typeface="Segoe UI"/>
              </a:rPr>
              <a:t>③ 物流追踪 — 站点中转记录、状态更新</a:t>
            </a:r>
          </a:p>
        </p:txBody>
      </p:sp>
      <p:sp>
        <p:nvSpPr>
          <p:cNvPr id="19" name="TextBox 19"/>
          <p:cNvSpPr txBox="1"/>
          <p:nvPr/>
        </p:nvSpPr>
        <p:spPr>
          <a:xfrm>
            <a:off x="945642" y="4073842"/>
            <a:ext cx="2739771" cy="264033"/>
          </a:xfrm>
          <a:prstGeom prst="rect">
            <a:avLst/>
          </a:prstGeom>
          <a:noFill/>
          <a:ln>
            <a:noFill/>
          </a:ln>
        </p:spPr>
        <p:txBody>
          <a:bodyPr wrap="none" lIns="0" tIns="0" rIns="0" bIns="0" anchor="t" anchorCtr="0">
            <a:spAutoFit/>
          </a:bodyPr>
          <a:lstStyle/>
          <a:p>
            <a:pPr algn="l"/>
            <a:r>
              <a:rPr lang="zh-CN" sz="1350" dirty="0">
                <a:solidFill>
                  <a:srgbClr val="636E72"/>
                </a:solidFill>
                <a:latin typeface="Segoe UI"/>
                <a:ea typeface="Microsoft YaHei"/>
                <a:cs typeface="Segoe UI"/>
              </a:rPr>
              <a:t>④ 管理维护 — 全局查询与数据管理</a:t>
            </a:r>
          </a:p>
        </p:txBody>
      </p:sp>
      <p:sp>
        <p:nvSpPr>
          <p:cNvPr id="20" name="Rectangle 20"/>
          <p:cNvSpPr/>
          <p:nvPr/>
        </p:nvSpPr>
        <p:spPr>
          <a:xfrm>
            <a:off x="762000" y="4400550"/>
            <a:ext cx="5143500" cy="523875"/>
          </a:xfrm>
          <a:prstGeom prst="roundRect">
            <a:avLst>
              <a:gd name="adj" fmla="val 7273"/>
            </a:avLst>
          </a:prstGeom>
          <a:solidFill>
            <a:srgbClr val="F5F7FA"/>
          </a:solidFill>
          <a:ln w="9525">
            <a:solidFill>
              <a:srgbClr val="DFE6E9"/>
            </a:solidFill>
          </a:ln>
        </p:spPr>
      </p:sp>
      <p:sp>
        <p:nvSpPr>
          <p:cNvPr id="21" name="TextBox 21"/>
          <p:cNvSpPr txBox="1"/>
          <p:nvPr/>
        </p:nvSpPr>
        <p:spPr>
          <a:xfrm>
            <a:off x="944880" y="4467225"/>
            <a:ext cx="2210714" cy="293370"/>
          </a:xfrm>
          <a:prstGeom prst="rect">
            <a:avLst/>
          </a:prstGeom>
          <a:noFill/>
          <a:ln>
            <a:noFill/>
          </a:ln>
        </p:spPr>
        <p:txBody>
          <a:bodyPr wrap="none" lIns="0" tIns="0" rIns="0" bIns="0" anchor="t" anchorCtr="0">
            <a:spAutoFit/>
          </a:bodyPr>
          <a:lstStyle/>
          <a:p>
            <a:pPr algn="l"/>
            <a:r>
              <a:rPr lang="zh-CN" sz="1500" b="1" dirty="0">
                <a:solidFill>
                  <a:srgbClr val="2D3436"/>
                </a:solidFill>
                <a:latin typeface="Segoe UI"/>
                <a:ea typeface="Microsoft YaHei"/>
                <a:cs typeface="Segoe UI"/>
              </a:rPr>
              <a:t>1 层 DFD（下单展开）</a:t>
            </a:r>
          </a:p>
        </p:txBody>
      </p:sp>
      <p:sp>
        <p:nvSpPr>
          <p:cNvPr id="22" name="TextBox 22"/>
          <p:cNvSpPr txBox="1"/>
          <p:nvPr/>
        </p:nvSpPr>
        <p:spPr>
          <a:xfrm>
            <a:off x="1040892" y="4692968"/>
            <a:ext cx="4593488" cy="264033"/>
          </a:xfrm>
          <a:prstGeom prst="rect">
            <a:avLst/>
          </a:prstGeom>
          <a:noFill/>
          <a:ln>
            <a:noFill/>
          </a:ln>
        </p:spPr>
        <p:txBody>
          <a:bodyPr wrap="none" lIns="0" tIns="0" rIns="0" bIns="0" anchor="t" anchorCtr="0">
            <a:spAutoFit/>
          </a:bodyPr>
          <a:lstStyle/>
          <a:p>
            <a:pPr algn="l"/>
            <a:r>
              <a:rPr lang="zh-CN" sz="1350" dirty="0">
                <a:solidFill>
                  <a:srgbClr val="636E72"/>
                </a:solidFill>
                <a:latin typeface="Segoe UI"/>
                <a:ea typeface="Microsoft YaHei"/>
                <a:cs typeface="Segoe UI"/>
              </a:rPr>
              <a:t>提交订单→校验→写表→触发器分配站点快递员→返回运单号</a:t>
            </a:r>
          </a:p>
        </p:txBody>
      </p:sp>
      <p:sp>
        <p:nvSpPr>
          <p:cNvPr id="23" name="TextBox 23"/>
          <p:cNvSpPr txBox="1"/>
          <p:nvPr/>
        </p:nvSpPr>
        <p:spPr>
          <a:xfrm>
            <a:off x="6463284" y="1661160"/>
            <a:ext cx="2756213" cy="528066"/>
          </a:xfrm>
          <a:prstGeom prst="rect">
            <a:avLst/>
          </a:prstGeom>
          <a:noFill/>
          <a:ln>
            <a:noFill/>
          </a:ln>
        </p:spPr>
        <p:txBody>
          <a:bodyPr wrap="none" lIns="0" tIns="0" rIns="0" bIns="0" anchor="t" anchorCtr="0">
            <a:spAutoFit/>
          </a:bodyPr>
          <a:lstStyle/>
          <a:p>
            <a:pPr algn="l"/>
            <a:r>
              <a:rPr lang="zh-CN" sz="2700" b="1" dirty="0">
                <a:solidFill>
                  <a:srgbClr val="1A3A5C"/>
                </a:solidFill>
                <a:latin typeface="Segoe UI"/>
                <a:ea typeface="Microsoft YaHei"/>
                <a:cs typeface="Segoe UI"/>
              </a:rPr>
              <a:t>数据字典 &amp; 功能</a:t>
            </a:r>
          </a:p>
        </p:txBody>
      </p:sp>
      <p:sp>
        <p:nvSpPr>
          <p:cNvPr id="24" name="Rectangle 24"/>
          <p:cNvSpPr/>
          <p:nvPr/>
        </p:nvSpPr>
        <p:spPr>
          <a:xfrm>
            <a:off x="6477000" y="2143125"/>
            <a:ext cx="4953000" cy="2000250"/>
          </a:xfrm>
          <a:prstGeom prst="roundRect">
            <a:avLst>
              <a:gd name="adj" fmla="val 1905"/>
            </a:avLst>
          </a:prstGeom>
          <a:solidFill>
            <a:srgbClr val="F5F7FA"/>
          </a:solidFill>
          <a:ln w="9525">
            <a:solidFill>
              <a:srgbClr val="DFE6E9"/>
            </a:solidFill>
          </a:ln>
        </p:spPr>
      </p:sp>
      <p:sp>
        <p:nvSpPr>
          <p:cNvPr id="25" name="TextBox 25"/>
          <p:cNvSpPr txBox="1"/>
          <p:nvPr/>
        </p:nvSpPr>
        <p:spPr>
          <a:xfrm>
            <a:off x="6659118" y="2279332"/>
            <a:ext cx="1742660" cy="322707"/>
          </a:xfrm>
          <a:prstGeom prst="rect">
            <a:avLst/>
          </a:prstGeom>
          <a:noFill/>
          <a:ln>
            <a:noFill/>
          </a:ln>
        </p:spPr>
        <p:txBody>
          <a:bodyPr wrap="none" lIns="0" tIns="0" rIns="0" bIns="0" anchor="t" anchorCtr="0">
            <a:spAutoFit/>
          </a:bodyPr>
          <a:lstStyle/>
          <a:p>
            <a:pPr algn="l"/>
            <a:r>
              <a:rPr lang="zh-CN" sz="1650" b="1" dirty="0">
                <a:solidFill>
                  <a:srgbClr val="1A3A5C"/>
                </a:solidFill>
                <a:latin typeface="Segoe UI"/>
                <a:ea typeface="Microsoft YaHei"/>
                <a:cs typeface="Segoe UI"/>
              </a:rPr>
              <a:t>12 个核心数据项</a:t>
            </a:r>
          </a:p>
        </p:txBody>
      </p:sp>
      <p:sp>
        <p:nvSpPr>
          <p:cNvPr id="26" name="TextBox 26"/>
          <p:cNvSpPr txBox="1"/>
          <p:nvPr/>
        </p:nvSpPr>
        <p:spPr>
          <a:xfrm>
            <a:off x="6755511" y="2636996"/>
            <a:ext cx="3505848" cy="278702"/>
          </a:xfrm>
          <a:prstGeom prst="rect">
            <a:avLst/>
          </a:prstGeom>
          <a:noFill/>
          <a:ln>
            <a:noFill/>
          </a:ln>
        </p:spPr>
        <p:txBody>
          <a:bodyPr wrap="none" lIns="0" tIns="0" rIns="0" bIns="0" anchor="t" anchorCtr="0">
            <a:spAutoFit/>
          </a:bodyPr>
          <a:lstStyle/>
          <a:p>
            <a:pPr algn="l"/>
            <a:r>
              <a:rPr lang="en-US" sz="1420" dirty="0">
                <a:solidFill>
                  <a:srgbClr val="636E72"/>
                </a:solidFill>
                <a:latin typeface="Segoe UI"/>
                <a:ea typeface="Segoe UI"/>
                <a:cs typeface="Segoe UI"/>
              </a:rPr>
              <a:t>user_id · username · password · role</a:t>
            </a:r>
          </a:p>
        </p:txBody>
      </p:sp>
      <p:sp>
        <p:nvSpPr>
          <p:cNvPr id="27" name="TextBox 27"/>
          <p:cNvSpPr txBox="1"/>
          <p:nvPr/>
        </p:nvSpPr>
        <p:spPr>
          <a:xfrm>
            <a:off x="6755511" y="2894171"/>
            <a:ext cx="2623414" cy="278702"/>
          </a:xfrm>
          <a:prstGeom prst="rect">
            <a:avLst/>
          </a:prstGeom>
          <a:noFill/>
          <a:ln>
            <a:noFill/>
          </a:ln>
        </p:spPr>
        <p:txBody>
          <a:bodyPr wrap="none" lIns="0" tIns="0" rIns="0" bIns="0" anchor="t" anchorCtr="0">
            <a:spAutoFit/>
          </a:bodyPr>
          <a:lstStyle/>
          <a:p>
            <a:pPr algn="l"/>
            <a:r>
              <a:rPr lang="en-US" sz="1420" dirty="0">
                <a:solidFill>
                  <a:srgbClr val="636E72"/>
                </a:solidFill>
                <a:latin typeface="Segoe UI"/>
                <a:ea typeface="Segoe UI"/>
                <a:cs typeface="Segoe UI"/>
              </a:rPr>
              <a:t>company_id · company_name</a:t>
            </a:r>
          </a:p>
        </p:txBody>
      </p:sp>
      <p:sp>
        <p:nvSpPr>
          <p:cNvPr id="28" name="TextBox 28"/>
          <p:cNvSpPr txBox="1"/>
          <p:nvPr/>
        </p:nvSpPr>
        <p:spPr>
          <a:xfrm>
            <a:off x="6755511" y="3151346"/>
            <a:ext cx="3409931" cy="278702"/>
          </a:xfrm>
          <a:prstGeom prst="rect">
            <a:avLst/>
          </a:prstGeom>
          <a:noFill/>
          <a:ln>
            <a:noFill/>
          </a:ln>
        </p:spPr>
        <p:txBody>
          <a:bodyPr wrap="none" lIns="0" tIns="0" rIns="0" bIns="0" anchor="t" anchorCtr="0">
            <a:spAutoFit/>
          </a:bodyPr>
          <a:lstStyle/>
          <a:p>
            <a:pPr algn="l"/>
            <a:r>
              <a:rPr lang="en-US" sz="1420" dirty="0">
                <a:solidFill>
                  <a:srgbClr val="636E72"/>
                </a:solidFill>
                <a:latin typeface="Segoe UI"/>
                <a:ea typeface="Segoe UI"/>
                <a:cs typeface="Segoe UI"/>
              </a:rPr>
              <a:t>station_id · station_name · address</a:t>
            </a:r>
          </a:p>
        </p:txBody>
      </p:sp>
      <p:sp>
        <p:nvSpPr>
          <p:cNvPr id="29" name="TextBox 29"/>
          <p:cNvSpPr txBox="1"/>
          <p:nvPr/>
        </p:nvSpPr>
        <p:spPr>
          <a:xfrm>
            <a:off x="6755511" y="3408521"/>
            <a:ext cx="2824839" cy="278702"/>
          </a:xfrm>
          <a:prstGeom prst="rect">
            <a:avLst/>
          </a:prstGeom>
          <a:noFill/>
          <a:ln>
            <a:noFill/>
          </a:ln>
        </p:spPr>
        <p:txBody>
          <a:bodyPr wrap="none" lIns="0" tIns="0" rIns="0" bIns="0" anchor="t" anchorCtr="0">
            <a:spAutoFit/>
          </a:bodyPr>
          <a:lstStyle/>
          <a:p>
            <a:pPr algn="l"/>
            <a:r>
              <a:rPr lang="en-US" sz="1420" dirty="0">
                <a:solidFill>
                  <a:srgbClr val="636E72"/>
                </a:solidFill>
                <a:latin typeface="Segoe UI"/>
                <a:ea typeface="Segoe UI"/>
                <a:cs typeface="Segoe UI"/>
              </a:rPr>
              <a:t>tracking_no · weight · status</a:t>
            </a:r>
          </a:p>
        </p:txBody>
      </p:sp>
      <p:sp>
        <p:nvSpPr>
          <p:cNvPr id="30" name="TextBox 30"/>
          <p:cNvSpPr txBox="1"/>
          <p:nvPr/>
        </p:nvSpPr>
        <p:spPr>
          <a:xfrm>
            <a:off x="6755511" y="3665696"/>
            <a:ext cx="3985431" cy="278702"/>
          </a:xfrm>
          <a:prstGeom prst="rect">
            <a:avLst/>
          </a:prstGeom>
          <a:noFill/>
          <a:ln>
            <a:noFill/>
          </a:ln>
        </p:spPr>
        <p:txBody>
          <a:bodyPr wrap="none" lIns="0" tIns="0" rIns="0" bIns="0" anchor="t" anchorCtr="0">
            <a:spAutoFit/>
          </a:bodyPr>
          <a:lstStyle/>
          <a:p>
            <a:pPr algn="l"/>
            <a:r>
              <a:rPr lang="en-US" sz="1420" dirty="0">
                <a:solidFill>
                  <a:srgbClr val="636E72"/>
                </a:solidFill>
                <a:latin typeface="Segoe UI"/>
                <a:ea typeface="Segoe UI"/>
                <a:cs typeface="Segoe UI"/>
              </a:rPr>
              <a:t>record_id · arrival_time · departure_time</a:t>
            </a:r>
          </a:p>
        </p:txBody>
      </p:sp>
      <p:sp>
        <p:nvSpPr>
          <p:cNvPr id="31" name="Rectangle 31"/>
          <p:cNvSpPr/>
          <p:nvPr/>
        </p:nvSpPr>
        <p:spPr>
          <a:xfrm>
            <a:off x="6477000" y="4286250"/>
            <a:ext cx="4953000" cy="1333500"/>
          </a:xfrm>
          <a:prstGeom prst="roundRect">
            <a:avLst>
              <a:gd name="adj" fmla="val 2857"/>
            </a:avLst>
          </a:prstGeom>
          <a:solidFill>
            <a:srgbClr val="1A3A5C"/>
          </a:solidFill>
          <a:ln>
            <a:noFill/>
          </a:ln>
        </p:spPr>
      </p:sp>
      <p:sp>
        <p:nvSpPr>
          <p:cNvPr id="32" name="TextBox 32"/>
          <p:cNvSpPr txBox="1"/>
          <p:nvPr/>
        </p:nvSpPr>
        <p:spPr>
          <a:xfrm>
            <a:off x="6659118" y="4422458"/>
            <a:ext cx="1381155"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Segoe UI"/>
                <a:ea typeface="Microsoft YaHei"/>
                <a:cs typeface="Segoe UI"/>
              </a:rPr>
              <a:t>8 项功能说明</a:t>
            </a:r>
          </a:p>
        </p:txBody>
      </p:sp>
      <p:sp>
        <p:nvSpPr>
          <p:cNvPr id="33" name="TextBox 33"/>
          <p:cNvSpPr txBox="1"/>
          <p:nvPr/>
        </p:nvSpPr>
        <p:spPr>
          <a:xfrm>
            <a:off x="6755511" y="4761071"/>
            <a:ext cx="4078453" cy="278702"/>
          </a:xfrm>
          <a:prstGeom prst="rect">
            <a:avLst/>
          </a:prstGeom>
          <a:noFill/>
          <a:ln>
            <a:noFill/>
          </a:ln>
        </p:spPr>
        <p:txBody>
          <a:bodyPr wrap="none" lIns="0" tIns="0" rIns="0" bIns="0" anchor="t" anchorCtr="0">
            <a:spAutoFit/>
          </a:bodyPr>
          <a:lstStyle/>
          <a:p>
            <a:pPr algn="l"/>
            <a:r>
              <a:rPr lang="zh-CN" sz="1420" dirty="0">
                <a:solidFill>
                  <a:srgbClr val="B2BEC3"/>
                </a:solidFill>
                <a:latin typeface="Segoe UI"/>
                <a:ea typeface="Microsoft YaHei"/>
                <a:cs typeface="Segoe UI"/>
              </a:rPr>
              <a:t>F1 注册 · F2 登录 · F3 下单 · F4 查我的快递</a:t>
            </a:r>
          </a:p>
        </p:txBody>
      </p:sp>
      <p:sp>
        <p:nvSpPr>
          <p:cNvPr id="34" name="TextBox 34"/>
          <p:cNvSpPr txBox="1"/>
          <p:nvPr/>
        </p:nvSpPr>
        <p:spPr>
          <a:xfrm>
            <a:off x="6755511" y="5037296"/>
            <a:ext cx="3044723" cy="278702"/>
          </a:xfrm>
          <a:prstGeom prst="rect">
            <a:avLst/>
          </a:prstGeom>
          <a:noFill/>
          <a:ln>
            <a:noFill/>
          </a:ln>
        </p:spPr>
        <p:txBody>
          <a:bodyPr wrap="none" lIns="0" tIns="0" rIns="0" bIns="0" anchor="t" anchorCtr="0">
            <a:spAutoFit/>
          </a:bodyPr>
          <a:lstStyle/>
          <a:p>
            <a:pPr algn="l"/>
            <a:r>
              <a:rPr lang="zh-CN" sz="1420" dirty="0">
                <a:solidFill>
                  <a:srgbClr val="B2BEC3"/>
                </a:solidFill>
                <a:latin typeface="Segoe UI"/>
                <a:ea typeface="Microsoft YaHei"/>
                <a:cs typeface="Segoe UI"/>
              </a:rPr>
              <a:t>F5 按运单号查询 · F6 查站点包裹</a:t>
            </a:r>
          </a:p>
        </p:txBody>
      </p:sp>
      <p:sp>
        <p:nvSpPr>
          <p:cNvPr id="35" name="TextBox 35"/>
          <p:cNvSpPr txBox="1"/>
          <p:nvPr/>
        </p:nvSpPr>
        <p:spPr>
          <a:xfrm>
            <a:off x="6755511" y="5313521"/>
            <a:ext cx="3247415" cy="278702"/>
          </a:xfrm>
          <a:prstGeom prst="rect">
            <a:avLst/>
          </a:prstGeom>
          <a:noFill/>
          <a:ln>
            <a:noFill/>
          </a:ln>
        </p:spPr>
        <p:txBody>
          <a:bodyPr wrap="none" lIns="0" tIns="0" rIns="0" bIns="0" anchor="t" anchorCtr="0">
            <a:spAutoFit/>
          </a:bodyPr>
          <a:lstStyle/>
          <a:p>
            <a:pPr algn="l"/>
            <a:r>
              <a:rPr lang="zh-CN" sz="1420" dirty="0">
                <a:solidFill>
                  <a:srgbClr val="B2BEC3"/>
                </a:solidFill>
                <a:latin typeface="Segoe UI"/>
                <a:ea typeface="Microsoft YaHei"/>
                <a:cs typeface="Segoe UI"/>
              </a:rPr>
              <a:t>F7 更新物流状态 · F8 全局数据管理</a:t>
            </a:r>
          </a:p>
        </p:txBody>
      </p:sp>
      <p:sp>
        <p:nvSpPr>
          <p:cNvPr id="36" name="Rectangle 36"/>
          <p:cNvSpPr/>
          <p:nvPr/>
        </p:nvSpPr>
        <p:spPr>
          <a:xfrm>
            <a:off x="762000" y="6191250"/>
            <a:ext cx="10668000" cy="9525"/>
          </a:xfrm>
          <a:prstGeom prst="rect">
            <a:avLst/>
          </a:prstGeom>
          <a:solidFill>
            <a:srgbClr val="DFE6E9"/>
          </a:solidFill>
          <a:ln>
            <a:noFill/>
          </a:ln>
        </p:spPr>
      </p:sp>
      <p:sp>
        <p:nvSpPr>
          <p:cNvPr id="37" name="TextBox 37"/>
          <p:cNvSpPr txBox="1"/>
          <p:nvPr/>
        </p:nvSpPr>
        <p:spPr>
          <a:xfrm>
            <a:off x="10914278" y="6331268"/>
            <a:ext cx="522580" cy="264033"/>
          </a:xfrm>
          <a:prstGeom prst="rect">
            <a:avLst/>
          </a:prstGeom>
          <a:noFill/>
          <a:ln>
            <a:noFill/>
          </a:ln>
        </p:spPr>
        <p:txBody>
          <a:bodyPr wrap="none" lIns="0" tIns="0" rIns="0" bIns="0" anchor="t" anchorCtr="0">
            <a:spAutoFit/>
          </a:bodyPr>
          <a:lstStyle/>
          <a:p>
            <a:pPr algn="r"/>
            <a:r>
              <a:rPr lang="en-US" sz="1350" dirty="0">
                <a:solidFill>
                  <a:srgbClr val="B2BEC3"/>
                </a:solidFill>
                <a:latin typeface="Segoe UI"/>
                <a:ea typeface="Segoe UI"/>
                <a:cs typeface="Segoe UI"/>
              </a:rPr>
              <a:t>4 / 11</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1A3A5C"/>
          </a:solidFill>
          <a:ln>
            <a:noFill/>
          </a:ln>
        </p:spPr>
      </p:sp>
      <p:sp>
        <p:nvSpPr>
          <p:cNvPr id="4" name="TextBox 4"/>
          <p:cNvSpPr txBox="1"/>
          <p:nvPr/>
        </p:nvSpPr>
        <p:spPr>
          <a:xfrm>
            <a:off x="743712" y="297180"/>
            <a:ext cx="4929348" cy="704088"/>
          </a:xfrm>
          <a:prstGeom prst="rect">
            <a:avLst/>
          </a:prstGeom>
          <a:noFill/>
          <a:ln>
            <a:noFill/>
          </a:ln>
        </p:spPr>
        <p:txBody>
          <a:bodyPr wrap="none" lIns="0" tIns="0" rIns="0" bIns="0" anchor="t" anchorCtr="0">
            <a:spAutoFit/>
          </a:bodyPr>
          <a:lstStyle/>
          <a:p>
            <a:pPr algn="l"/>
            <a:r>
              <a:rPr lang="zh-CN" sz="3600" b="1" dirty="0">
                <a:solidFill>
                  <a:srgbClr val="1A3A5C"/>
                </a:solidFill>
                <a:latin typeface="Segoe UI"/>
                <a:ea typeface="Microsoft YaHei"/>
                <a:cs typeface="Segoe UI"/>
              </a:rPr>
              <a:t>概念设计 — E-R 模型</a:t>
            </a:r>
          </a:p>
        </p:txBody>
      </p:sp>
      <p:sp>
        <p:nvSpPr>
          <p:cNvPr id="5" name="Line 5"/>
          <p:cNvSpPr/>
          <p:nvPr/>
        </p:nvSpPr>
        <p:spPr>
          <a:xfrm>
            <a:off x="762000" y="857250"/>
            <a:ext cx="2667000" cy="9525"/>
          </a:xfrm>
          <a:custGeom>
            <a:avLst/>
            <a:gdLst/>
            <a:ahLst/>
            <a:cxnLst/>
            <a:rect l="l" t="t" r="r" b="b"/>
            <a:pathLst>
              <a:path w="2667000" h="9525">
                <a:moveTo>
                  <a:pt x="0" y="0"/>
                </a:moveTo>
                <a:lnTo>
                  <a:pt x="2667000" y="0"/>
                </a:lnTo>
              </a:path>
            </a:pathLst>
          </a:custGeom>
          <a:noFill/>
          <a:ln w="28575">
            <a:solidFill>
              <a:srgbClr val="00A8A8"/>
            </a:solidFill>
          </a:ln>
        </p:spPr>
      </p:sp>
      <p:sp>
        <p:nvSpPr>
          <p:cNvPr id="6" name="Rectangle 6"/>
          <p:cNvSpPr/>
          <p:nvPr/>
        </p:nvSpPr>
        <p:spPr>
          <a:xfrm>
            <a:off x="571500" y="1143000"/>
            <a:ext cx="1905000" cy="762000"/>
          </a:xfrm>
          <a:prstGeom prst="roundRect">
            <a:avLst>
              <a:gd name="adj" fmla="val 5000"/>
            </a:avLst>
          </a:prstGeom>
          <a:solidFill>
            <a:srgbClr val="1A3A5C"/>
          </a:solidFill>
          <a:ln>
            <a:noFill/>
          </a:ln>
        </p:spPr>
      </p:sp>
      <p:sp>
        <p:nvSpPr>
          <p:cNvPr id="7" name="TextBox 7"/>
          <p:cNvSpPr txBox="1"/>
          <p:nvPr/>
        </p:nvSpPr>
        <p:spPr>
          <a:xfrm>
            <a:off x="792366" y="1282065"/>
            <a:ext cx="1463269"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Segoe UI"/>
                <a:ea typeface="Microsoft YaHei"/>
                <a:cs typeface="Segoe UI"/>
              </a:rPr>
              <a:t>User (用户)</a:t>
            </a:r>
          </a:p>
        </p:txBody>
      </p:sp>
      <p:sp>
        <p:nvSpPr>
          <p:cNvPr id="8" name="TextBox 8"/>
          <p:cNvSpPr txBox="1"/>
          <p:nvPr/>
        </p:nvSpPr>
        <p:spPr>
          <a:xfrm>
            <a:off x="462012" y="1584960"/>
            <a:ext cx="2123976"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Segoe UI"/>
                <a:ea typeface="Segoe UI"/>
                <a:cs typeface="Segoe UI"/>
              </a:rPr>
              <a:t>user_id · username · role</a:t>
            </a:r>
          </a:p>
        </p:txBody>
      </p:sp>
      <p:sp>
        <p:nvSpPr>
          <p:cNvPr id="9" name="Rectangle 9"/>
          <p:cNvSpPr/>
          <p:nvPr/>
        </p:nvSpPr>
        <p:spPr>
          <a:xfrm>
            <a:off x="3619500" y="1143000"/>
            <a:ext cx="2095500" cy="762000"/>
          </a:xfrm>
          <a:prstGeom prst="roundRect">
            <a:avLst>
              <a:gd name="adj" fmla="val 5000"/>
            </a:avLst>
          </a:prstGeom>
          <a:solidFill>
            <a:srgbClr val="00A8A8"/>
          </a:solidFill>
          <a:ln>
            <a:noFill/>
          </a:ln>
        </p:spPr>
      </p:sp>
      <p:sp>
        <p:nvSpPr>
          <p:cNvPr id="10" name="TextBox 10"/>
          <p:cNvSpPr txBox="1"/>
          <p:nvPr/>
        </p:nvSpPr>
        <p:spPr>
          <a:xfrm>
            <a:off x="3702684" y="1282065"/>
            <a:ext cx="1929133"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Segoe UI"/>
                <a:ea typeface="Microsoft YaHei"/>
                <a:cs typeface="Segoe UI"/>
              </a:rPr>
              <a:t>Company (公司)</a:t>
            </a:r>
          </a:p>
        </p:txBody>
      </p:sp>
      <p:sp>
        <p:nvSpPr>
          <p:cNvPr id="11" name="TextBox 11"/>
          <p:cNvSpPr txBox="1"/>
          <p:nvPr/>
        </p:nvSpPr>
        <p:spPr>
          <a:xfrm>
            <a:off x="3507730" y="1584960"/>
            <a:ext cx="2319040"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Segoe UI"/>
                <a:ea typeface="Segoe UI"/>
                <a:cs typeface="Segoe UI"/>
              </a:rPr>
              <a:t>company_id · company_name</a:t>
            </a:r>
          </a:p>
        </p:txBody>
      </p:sp>
      <p:sp>
        <p:nvSpPr>
          <p:cNvPr id="12" name="Rectangle 12"/>
          <p:cNvSpPr/>
          <p:nvPr/>
        </p:nvSpPr>
        <p:spPr>
          <a:xfrm>
            <a:off x="6858000" y="1143000"/>
            <a:ext cx="2095500" cy="762000"/>
          </a:xfrm>
          <a:prstGeom prst="roundRect">
            <a:avLst>
              <a:gd name="adj" fmla="val 5000"/>
            </a:avLst>
          </a:prstGeom>
          <a:solidFill>
            <a:srgbClr val="1A3A5C"/>
          </a:solidFill>
          <a:ln>
            <a:noFill/>
          </a:ln>
        </p:spPr>
      </p:sp>
      <p:sp>
        <p:nvSpPr>
          <p:cNvPr id="13" name="TextBox 13"/>
          <p:cNvSpPr txBox="1"/>
          <p:nvPr/>
        </p:nvSpPr>
        <p:spPr>
          <a:xfrm>
            <a:off x="6966833" y="1282065"/>
            <a:ext cx="1877835"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Segoe UI"/>
                <a:ea typeface="Microsoft YaHei"/>
                <a:cs typeface="Segoe UI"/>
              </a:rPr>
              <a:t>Package (包裹)</a:t>
            </a:r>
          </a:p>
        </p:txBody>
      </p:sp>
      <p:sp>
        <p:nvSpPr>
          <p:cNvPr id="14" name="TextBox 14"/>
          <p:cNvSpPr txBox="1"/>
          <p:nvPr/>
        </p:nvSpPr>
        <p:spPr>
          <a:xfrm>
            <a:off x="6657179" y="1584960"/>
            <a:ext cx="2497143"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Segoe UI"/>
                <a:ea typeface="Segoe UI"/>
                <a:cs typeface="Segoe UI"/>
              </a:rPr>
              <a:t>tracking_no · weight · status</a:t>
            </a:r>
          </a:p>
        </p:txBody>
      </p:sp>
      <p:sp>
        <p:nvSpPr>
          <p:cNvPr id="15" name="Rectangle 15"/>
          <p:cNvSpPr/>
          <p:nvPr/>
        </p:nvSpPr>
        <p:spPr>
          <a:xfrm>
            <a:off x="9620250" y="1143000"/>
            <a:ext cx="2095500" cy="762000"/>
          </a:xfrm>
          <a:prstGeom prst="roundRect">
            <a:avLst>
              <a:gd name="adj" fmla="val 5000"/>
            </a:avLst>
          </a:prstGeom>
          <a:solidFill>
            <a:srgbClr val="0D7377"/>
          </a:solidFill>
          <a:ln>
            <a:noFill/>
          </a:ln>
        </p:spPr>
      </p:sp>
      <p:sp>
        <p:nvSpPr>
          <p:cNvPr id="16" name="TextBox 16"/>
          <p:cNvSpPr txBox="1"/>
          <p:nvPr/>
        </p:nvSpPr>
        <p:spPr>
          <a:xfrm>
            <a:off x="9761144" y="1282065"/>
            <a:ext cx="181371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Segoe UI"/>
                <a:ea typeface="Microsoft YaHei"/>
                <a:cs typeface="Segoe UI"/>
              </a:rPr>
              <a:t>Station (站点)</a:t>
            </a:r>
          </a:p>
        </p:txBody>
      </p:sp>
      <p:sp>
        <p:nvSpPr>
          <p:cNvPr id="17" name="TextBox 17"/>
          <p:cNvSpPr txBox="1"/>
          <p:nvPr/>
        </p:nvSpPr>
        <p:spPr>
          <a:xfrm>
            <a:off x="9584809" y="1584960"/>
            <a:ext cx="2166381"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Segoe UI"/>
                <a:ea typeface="Segoe UI"/>
                <a:cs typeface="Segoe UI"/>
              </a:rPr>
              <a:t>station_id · station_name</a:t>
            </a:r>
          </a:p>
        </p:txBody>
      </p:sp>
      <p:sp>
        <p:nvSpPr>
          <p:cNvPr id="18" name="TextBox 18"/>
          <p:cNvSpPr txBox="1"/>
          <p:nvPr/>
        </p:nvSpPr>
        <p:spPr>
          <a:xfrm>
            <a:off x="2530716" y="2028825"/>
            <a:ext cx="1034567" cy="293370"/>
          </a:xfrm>
          <a:prstGeom prst="rect">
            <a:avLst/>
          </a:prstGeom>
          <a:noFill/>
          <a:ln>
            <a:noFill/>
          </a:ln>
        </p:spPr>
        <p:txBody>
          <a:bodyPr wrap="none" lIns="0" tIns="0" rIns="0" bIns="0" anchor="t" anchorCtr="0">
            <a:spAutoFit/>
          </a:bodyPr>
          <a:lstStyle/>
          <a:p>
            <a:pPr algn="ctr"/>
            <a:r>
              <a:rPr lang="zh-CN" sz="1500" b="1" dirty="0">
                <a:solidFill>
                  <a:srgbClr val="E17055"/>
                </a:solidFill>
                <a:latin typeface="Segoe UI"/>
                <a:ea typeface="Microsoft YaHei"/>
                <a:cs typeface="Segoe UI"/>
              </a:rPr>
              <a:t>1 : N 下单</a:t>
            </a:r>
          </a:p>
        </p:txBody>
      </p:sp>
      <p:sp>
        <p:nvSpPr>
          <p:cNvPr id="19" name="TextBox 19"/>
          <p:cNvSpPr txBox="1"/>
          <p:nvPr/>
        </p:nvSpPr>
        <p:spPr>
          <a:xfrm>
            <a:off x="5483466" y="2028825"/>
            <a:ext cx="1034567" cy="293370"/>
          </a:xfrm>
          <a:prstGeom prst="rect">
            <a:avLst/>
          </a:prstGeom>
          <a:noFill/>
          <a:ln>
            <a:noFill/>
          </a:ln>
        </p:spPr>
        <p:txBody>
          <a:bodyPr wrap="none" lIns="0" tIns="0" rIns="0" bIns="0" anchor="t" anchorCtr="0">
            <a:spAutoFit/>
          </a:bodyPr>
          <a:lstStyle/>
          <a:p>
            <a:pPr algn="ctr"/>
            <a:r>
              <a:rPr lang="zh-CN" sz="1500" b="1" dirty="0">
                <a:solidFill>
                  <a:srgbClr val="E17055"/>
                </a:solidFill>
                <a:latin typeface="Segoe UI"/>
                <a:ea typeface="Microsoft YaHei"/>
                <a:cs typeface="Segoe UI"/>
              </a:rPr>
              <a:t>1 : N 承接</a:t>
            </a:r>
          </a:p>
        </p:txBody>
      </p:sp>
      <p:sp>
        <p:nvSpPr>
          <p:cNvPr id="20" name="TextBox 20"/>
          <p:cNvSpPr txBox="1"/>
          <p:nvPr/>
        </p:nvSpPr>
        <p:spPr>
          <a:xfrm>
            <a:off x="8436216" y="2028825"/>
            <a:ext cx="1034567" cy="293370"/>
          </a:xfrm>
          <a:prstGeom prst="rect">
            <a:avLst/>
          </a:prstGeom>
          <a:noFill/>
          <a:ln>
            <a:noFill/>
          </a:ln>
        </p:spPr>
        <p:txBody>
          <a:bodyPr wrap="none" lIns="0" tIns="0" rIns="0" bIns="0" anchor="t" anchorCtr="0">
            <a:spAutoFit/>
          </a:bodyPr>
          <a:lstStyle/>
          <a:p>
            <a:pPr algn="ctr"/>
            <a:r>
              <a:rPr lang="zh-CN" sz="1500" b="1" dirty="0">
                <a:solidFill>
                  <a:srgbClr val="E17055"/>
                </a:solidFill>
                <a:latin typeface="Segoe UI"/>
                <a:ea typeface="Microsoft YaHei"/>
                <a:cs typeface="Segoe UI"/>
              </a:rPr>
              <a:t>1 : N 拥有</a:t>
            </a:r>
          </a:p>
        </p:txBody>
      </p:sp>
      <p:sp>
        <p:nvSpPr>
          <p:cNvPr id="21" name="Rectangle 21"/>
          <p:cNvSpPr/>
          <p:nvPr/>
        </p:nvSpPr>
        <p:spPr>
          <a:xfrm>
            <a:off x="3810000" y="2667000"/>
            <a:ext cx="4762500" cy="666750"/>
          </a:xfrm>
          <a:prstGeom prst="roundRect">
            <a:avLst>
              <a:gd name="adj" fmla="val 5714"/>
            </a:avLst>
          </a:prstGeom>
          <a:solidFill>
            <a:srgbClr val="F5F7FA"/>
          </a:solidFill>
          <a:ln w="9525">
            <a:solidFill>
              <a:srgbClr val="DFE6E9"/>
            </a:solidFill>
          </a:ln>
        </p:spPr>
      </p:sp>
      <p:sp>
        <p:nvSpPr>
          <p:cNvPr id="22" name="TextBox 22"/>
          <p:cNvSpPr txBox="1"/>
          <p:nvPr/>
        </p:nvSpPr>
        <p:spPr>
          <a:xfrm>
            <a:off x="4603724" y="2806065"/>
            <a:ext cx="3175052" cy="352044"/>
          </a:xfrm>
          <a:prstGeom prst="rect">
            <a:avLst/>
          </a:prstGeom>
          <a:noFill/>
          <a:ln>
            <a:noFill/>
          </a:ln>
        </p:spPr>
        <p:txBody>
          <a:bodyPr wrap="none" lIns="0" tIns="0" rIns="0" bIns="0" anchor="t" anchorCtr="0">
            <a:spAutoFit/>
          </a:bodyPr>
          <a:lstStyle/>
          <a:p>
            <a:pPr algn="ctr"/>
            <a:r>
              <a:rPr lang="zh-CN" sz="1800" b="1" dirty="0">
                <a:solidFill>
                  <a:srgbClr val="1A3A5C"/>
                </a:solidFill>
                <a:latin typeface="Segoe UI"/>
                <a:ea typeface="Microsoft YaHei"/>
                <a:cs typeface="Segoe UI"/>
              </a:rPr>
              <a:t>TransitRecord (中转记录)</a:t>
            </a:r>
          </a:p>
        </p:txBody>
      </p:sp>
      <p:sp>
        <p:nvSpPr>
          <p:cNvPr id="23" name="TextBox 23"/>
          <p:cNvSpPr txBox="1"/>
          <p:nvPr/>
        </p:nvSpPr>
        <p:spPr>
          <a:xfrm>
            <a:off x="4429575" y="3108960"/>
            <a:ext cx="3523351"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Segoe UI"/>
                <a:ea typeface="Segoe UI"/>
                <a:cs typeface="Segoe UI"/>
              </a:rPr>
              <a:t>record_id · arrival_time · departure_time</a:t>
            </a:r>
          </a:p>
        </p:txBody>
      </p:sp>
      <p:sp>
        <p:nvSpPr>
          <p:cNvPr id="24" name="TextBox 24"/>
          <p:cNvSpPr txBox="1"/>
          <p:nvPr/>
        </p:nvSpPr>
        <p:spPr>
          <a:xfrm>
            <a:off x="5673966" y="2314575"/>
            <a:ext cx="1034567" cy="293370"/>
          </a:xfrm>
          <a:prstGeom prst="rect">
            <a:avLst/>
          </a:prstGeom>
          <a:noFill/>
          <a:ln>
            <a:noFill/>
          </a:ln>
        </p:spPr>
        <p:txBody>
          <a:bodyPr wrap="none" lIns="0" tIns="0" rIns="0" bIns="0" anchor="t" anchorCtr="0">
            <a:spAutoFit/>
          </a:bodyPr>
          <a:lstStyle/>
          <a:p>
            <a:pPr algn="ctr"/>
            <a:r>
              <a:rPr lang="zh-CN" sz="1500" b="1" dirty="0">
                <a:solidFill>
                  <a:srgbClr val="E17055"/>
                </a:solidFill>
                <a:latin typeface="Segoe UI"/>
                <a:ea typeface="Microsoft YaHei"/>
                <a:cs typeface="Segoe UI"/>
              </a:rPr>
              <a:t>1 : N 包含</a:t>
            </a:r>
          </a:p>
        </p:txBody>
      </p:sp>
      <p:sp>
        <p:nvSpPr>
          <p:cNvPr id="25" name="Rectangle 25"/>
          <p:cNvSpPr/>
          <p:nvPr/>
        </p:nvSpPr>
        <p:spPr>
          <a:xfrm>
            <a:off x="762000" y="3714750"/>
            <a:ext cx="10668000" cy="762000"/>
          </a:xfrm>
          <a:prstGeom prst="roundRect">
            <a:avLst>
              <a:gd name="adj" fmla="val 5000"/>
            </a:avLst>
          </a:prstGeom>
          <a:solidFill>
            <a:srgbClr val="F5F7FA"/>
          </a:solidFill>
          <a:ln w="9525">
            <a:solidFill>
              <a:srgbClr val="DFE6E9"/>
            </a:solidFill>
          </a:ln>
        </p:spPr>
      </p:sp>
      <p:sp>
        <p:nvSpPr>
          <p:cNvPr id="26" name="TextBox 26"/>
          <p:cNvSpPr txBox="1"/>
          <p:nvPr/>
        </p:nvSpPr>
        <p:spPr>
          <a:xfrm>
            <a:off x="4091547" y="3773805"/>
            <a:ext cx="3627907" cy="410718"/>
          </a:xfrm>
          <a:prstGeom prst="rect">
            <a:avLst/>
          </a:prstGeom>
          <a:noFill/>
          <a:ln>
            <a:noFill/>
          </a:ln>
        </p:spPr>
        <p:txBody>
          <a:bodyPr wrap="none" lIns="0" tIns="0" rIns="0" bIns="0" anchor="t" anchorCtr="0">
            <a:spAutoFit/>
          </a:bodyPr>
          <a:lstStyle/>
          <a:p>
            <a:pPr algn="ctr"/>
            <a:r>
              <a:rPr lang="zh-CN" sz="2100" b="1" dirty="0">
                <a:solidFill>
                  <a:srgbClr val="1A3A5C"/>
                </a:solidFill>
                <a:latin typeface="Segoe UI"/>
                <a:ea typeface="Microsoft YaHei"/>
                <a:cs typeface="Segoe UI"/>
              </a:rPr>
              <a:t>快递员建模 — 设计方案选择</a:t>
            </a:r>
          </a:p>
        </p:txBody>
      </p:sp>
      <p:sp>
        <p:nvSpPr>
          <p:cNvPr id="27" name="TextBox 27"/>
          <p:cNvSpPr txBox="1"/>
          <p:nvPr/>
        </p:nvSpPr>
        <p:spPr>
          <a:xfrm>
            <a:off x="1039368" y="4155758"/>
            <a:ext cx="4295859" cy="322707"/>
          </a:xfrm>
          <a:prstGeom prst="rect">
            <a:avLst/>
          </a:prstGeom>
          <a:noFill/>
          <a:ln>
            <a:noFill/>
          </a:ln>
        </p:spPr>
        <p:txBody>
          <a:bodyPr wrap="none" lIns="0" tIns="0" rIns="0" bIns="0" anchor="t" anchorCtr="0">
            <a:spAutoFit/>
          </a:bodyPr>
          <a:lstStyle/>
          <a:p>
            <a:pPr algn="l"/>
            <a:r>
              <a:rPr lang="zh-CN" sz="1650" b="1" dirty="0">
                <a:solidFill>
                  <a:srgbClr val="2D3436"/>
                </a:solidFill>
                <a:latin typeface="Segoe UI"/>
                <a:ea typeface="Microsoft YaHei"/>
                <a:cs typeface="Segoe UI"/>
              </a:rPr>
              <a:t>方案一：单独建 Courier 表（数据冗余）</a:t>
            </a:r>
          </a:p>
        </p:txBody>
      </p:sp>
      <p:sp>
        <p:nvSpPr>
          <p:cNvPr id="28" name="TextBox 28"/>
          <p:cNvSpPr txBox="1"/>
          <p:nvPr/>
        </p:nvSpPr>
        <p:spPr>
          <a:xfrm>
            <a:off x="7135368" y="4155758"/>
            <a:ext cx="3751346" cy="322707"/>
          </a:xfrm>
          <a:prstGeom prst="rect">
            <a:avLst/>
          </a:prstGeom>
          <a:noFill/>
          <a:ln>
            <a:noFill/>
          </a:ln>
        </p:spPr>
        <p:txBody>
          <a:bodyPr wrap="none" lIns="0" tIns="0" rIns="0" bIns="0" anchor="t" anchorCtr="0">
            <a:spAutoFit/>
          </a:bodyPr>
          <a:lstStyle/>
          <a:p>
            <a:pPr algn="l"/>
            <a:r>
              <a:rPr lang="zh-CN" sz="1650" b="1" dirty="0">
                <a:solidFill>
                  <a:srgbClr val="00B894"/>
                </a:solidFill>
                <a:latin typeface="Segoe UI"/>
                <a:ea typeface="Microsoft YaHei"/>
                <a:cs typeface="Segoe UI"/>
              </a:rPr>
              <a:t>✓ 方案二：User 表加 role 字段区分</a:t>
            </a:r>
          </a:p>
        </p:txBody>
      </p:sp>
      <p:sp>
        <p:nvSpPr>
          <p:cNvPr id="29" name="Rectangle 29"/>
          <p:cNvSpPr/>
          <p:nvPr/>
        </p:nvSpPr>
        <p:spPr>
          <a:xfrm>
            <a:off x="762000" y="4762500"/>
            <a:ext cx="10668000" cy="9525"/>
          </a:xfrm>
          <a:prstGeom prst="rect">
            <a:avLst/>
          </a:prstGeom>
          <a:solidFill>
            <a:srgbClr val="DFE6E9"/>
          </a:solidFill>
          <a:ln>
            <a:noFill/>
          </a:ln>
        </p:spPr>
      </p:sp>
      <p:sp>
        <p:nvSpPr>
          <p:cNvPr id="30" name="TextBox 30"/>
          <p:cNvSpPr txBox="1"/>
          <p:nvPr/>
        </p:nvSpPr>
        <p:spPr>
          <a:xfrm>
            <a:off x="751332" y="4869180"/>
            <a:ext cx="1757833" cy="410718"/>
          </a:xfrm>
          <a:prstGeom prst="rect">
            <a:avLst/>
          </a:prstGeom>
          <a:noFill/>
          <a:ln>
            <a:noFill/>
          </a:ln>
        </p:spPr>
        <p:txBody>
          <a:bodyPr wrap="none" lIns="0" tIns="0" rIns="0" bIns="0" anchor="t" anchorCtr="0">
            <a:spAutoFit/>
          </a:bodyPr>
          <a:lstStyle/>
          <a:p>
            <a:pPr algn="l"/>
            <a:r>
              <a:rPr lang="zh-CN" sz="2100" b="1" dirty="0">
                <a:solidFill>
                  <a:srgbClr val="1A3A5C"/>
                </a:solidFill>
                <a:latin typeface="Segoe UI"/>
                <a:ea typeface="Microsoft YaHei"/>
                <a:cs typeface="Segoe UI"/>
              </a:rPr>
              <a:t>6 组实体关系</a:t>
            </a:r>
          </a:p>
        </p:txBody>
      </p:sp>
      <p:sp>
        <p:nvSpPr>
          <p:cNvPr id="31" name="TextBox 31"/>
          <p:cNvSpPr txBox="1"/>
          <p:nvPr/>
        </p:nvSpPr>
        <p:spPr>
          <a:xfrm>
            <a:off x="1134618" y="5298758"/>
            <a:ext cx="7133915" cy="322707"/>
          </a:xfrm>
          <a:prstGeom prst="rect">
            <a:avLst/>
          </a:prstGeom>
          <a:noFill/>
          <a:ln>
            <a:noFill/>
          </a:ln>
        </p:spPr>
        <p:txBody>
          <a:bodyPr wrap="none" lIns="0" tIns="0" rIns="0" bIns="0" anchor="t" anchorCtr="0">
            <a:spAutoFit/>
          </a:bodyPr>
          <a:lstStyle/>
          <a:p>
            <a:pPr algn="l"/>
            <a:r>
              <a:rPr lang="en-US" sz="1650" b="1" dirty="0">
                <a:solidFill>
                  <a:srgbClr val="2D3436"/>
                </a:solidFill>
                <a:latin typeface="Segoe UI"/>
                <a:ea typeface="Segoe UI"/>
                <a:cs typeface="Segoe UI"/>
              </a:rPr>
              <a:t>User 1:N Package | Company 1:N Package | Company 1:N Station</a:t>
            </a:r>
          </a:p>
        </p:txBody>
      </p:sp>
      <p:sp>
        <p:nvSpPr>
          <p:cNvPr id="32" name="TextBox 32"/>
          <p:cNvSpPr txBox="1"/>
          <p:nvPr/>
        </p:nvSpPr>
        <p:spPr>
          <a:xfrm>
            <a:off x="1134618" y="5632132"/>
            <a:ext cx="9517237" cy="322707"/>
          </a:xfrm>
          <a:prstGeom prst="rect">
            <a:avLst/>
          </a:prstGeom>
          <a:noFill/>
          <a:ln>
            <a:noFill/>
          </a:ln>
        </p:spPr>
        <p:txBody>
          <a:bodyPr wrap="none" lIns="0" tIns="0" rIns="0" bIns="0" anchor="t" anchorCtr="0">
            <a:spAutoFit/>
          </a:bodyPr>
          <a:lstStyle/>
          <a:p>
            <a:pPr algn="l"/>
            <a:r>
              <a:rPr lang="en-US" sz="1650" b="1" dirty="0">
                <a:solidFill>
                  <a:srgbClr val="2D3436"/>
                </a:solidFill>
                <a:latin typeface="Segoe UI"/>
                <a:ea typeface="Segoe UI"/>
                <a:cs typeface="Segoe UI"/>
              </a:rPr>
              <a:t>Package 1:N TransitRecord | Station 1:N TransitRecord | Courier 1:N TransitRecord</a:t>
            </a:r>
          </a:p>
        </p:txBody>
      </p:sp>
      <p:sp>
        <p:nvSpPr>
          <p:cNvPr id="33" name="Rectangle 33"/>
          <p:cNvSpPr/>
          <p:nvPr/>
        </p:nvSpPr>
        <p:spPr>
          <a:xfrm>
            <a:off x="762000" y="6191250"/>
            <a:ext cx="10668000" cy="9525"/>
          </a:xfrm>
          <a:prstGeom prst="rect">
            <a:avLst/>
          </a:prstGeom>
          <a:solidFill>
            <a:srgbClr val="DFE6E9"/>
          </a:solidFill>
          <a:ln>
            <a:noFill/>
          </a:ln>
        </p:spPr>
      </p:sp>
      <p:sp>
        <p:nvSpPr>
          <p:cNvPr id="34" name="TextBox 34"/>
          <p:cNvSpPr txBox="1"/>
          <p:nvPr/>
        </p:nvSpPr>
        <p:spPr>
          <a:xfrm>
            <a:off x="10914278" y="6331268"/>
            <a:ext cx="522580" cy="264033"/>
          </a:xfrm>
          <a:prstGeom prst="rect">
            <a:avLst/>
          </a:prstGeom>
          <a:noFill/>
          <a:ln>
            <a:noFill/>
          </a:ln>
        </p:spPr>
        <p:txBody>
          <a:bodyPr wrap="none" lIns="0" tIns="0" rIns="0" bIns="0" anchor="t" anchorCtr="0">
            <a:spAutoFit/>
          </a:bodyPr>
          <a:lstStyle/>
          <a:p>
            <a:pPr algn="r"/>
            <a:r>
              <a:rPr lang="en-US" sz="1350" dirty="0">
                <a:solidFill>
                  <a:srgbClr val="B2BEC3"/>
                </a:solidFill>
                <a:latin typeface="Segoe UI"/>
                <a:ea typeface="Segoe UI"/>
                <a:cs typeface="Segoe UI"/>
              </a:rPr>
              <a:t>5 / 11</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1A3A5C"/>
          </a:solidFill>
          <a:ln>
            <a:noFill/>
          </a:ln>
        </p:spPr>
      </p:sp>
      <p:sp>
        <p:nvSpPr>
          <p:cNvPr id="4" name="TextBox 4"/>
          <p:cNvSpPr txBox="1"/>
          <p:nvPr/>
        </p:nvSpPr>
        <p:spPr>
          <a:xfrm>
            <a:off x="743712" y="297180"/>
            <a:ext cx="4692678" cy="704088"/>
          </a:xfrm>
          <a:prstGeom prst="rect">
            <a:avLst/>
          </a:prstGeom>
          <a:noFill/>
          <a:ln>
            <a:noFill/>
          </a:ln>
        </p:spPr>
        <p:txBody>
          <a:bodyPr wrap="none" lIns="0" tIns="0" rIns="0" bIns="0" anchor="t" anchorCtr="0">
            <a:spAutoFit/>
          </a:bodyPr>
          <a:lstStyle/>
          <a:p>
            <a:pPr algn="l"/>
            <a:r>
              <a:rPr lang="zh-CN" sz="3600" b="1" dirty="0">
                <a:solidFill>
                  <a:srgbClr val="1A3A5C"/>
                </a:solidFill>
                <a:latin typeface="Segoe UI"/>
                <a:ea typeface="Microsoft YaHei"/>
                <a:cs typeface="Segoe UI"/>
              </a:rPr>
              <a:t>逻辑设计 — 关系模式</a:t>
            </a:r>
          </a:p>
        </p:txBody>
      </p:sp>
      <p:sp>
        <p:nvSpPr>
          <p:cNvPr id="5" name="Line 5"/>
          <p:cNvSpPr/>
          <p:nvPr/>
        </p:nvSpPr>
        <p:spPr>
          <a:xfrm>
            <a:off x="762000" y="857250"/>
            <a:ext cx="2476500" cy="9525"/>
          </a:xfrm>
          <a:custGeom>
            <a:avLst/>
            <a:gdLst/>
            <a:ahLst/>
            <a:cxnLst/>
            <a:rect l="l" t="t" r="r" b="b"/>
            <a:pathLst>
              <a:path w="2476500" h="9525">
                <a:moveTo>
                  <a:pt x="0" y="0"/>
                </a:moveTo>
                <a:lnTo>
                  <a:pt x="2476500" y="0"/>
                </a:lnTo>
              </a:path>
            </a:pathLst>
          </a:custGeom>
          <a:noFill/>
          <a:ln w="28575">
            <a:solidFill>
              <a:srgbClr val="00A8A8"/>
            </a:solidFill>
          </a:ln>
        </p:spPr>
      </p:sp>
      <p:sp>
        <p:nvSpPr>
          <p:cNvPr id="6" name="TextBox 6"/>
          <p:cNvSpPr txBox="1"/>
          <p:nvPr/>
        </p:nvSpPr>
        <p:spPr>
          <a:xfrm>
            <a:off x="753618" y="1012508"/>
            <a:ext cx="6928561" cy="322707"/>
          </a:xfrm>
          <a:prstGeom prst="rect">
            <a:avLst/>
          </a:prstGeom>
          <a:noFill/>
          <a:ln>
            <a:noFill/>
          </a:ln>
        </p:spPr>
        <p:txBody>
          <a:bodyPr wrap="none" lIns="0" tIns="0" rIns="0" bIns="0" anchor="t" anchorCtr="0">
            <a:spAutoFit/>
          </a:bodyPr>
          <a:lstStyle/>
          <a:p>
            <a:pPr algn="l"/>
            <a:r>
              <a:rPr lang="zh-CN" sz="1650" dirty="0">
                <a:solidFill>
                  <a:srgbClr val="636E72"/>
                </a:solidFill>
                <a:latin typeface="Segoe UI"/>
                <a:ea typeface="Microsoft YaHei"/>
                <a:cs typeface="Segoe UI"/>
              </a:rPr>
              <a:t>转换规则：规则1 实体→表、主码→主键 | 规则2 1:N联系→N端加外键</a:t>
            </a:r>
          </a:p>
        </p:txBody>
      </p:sp>
      <p:sp>
        <p:nvSpPr>
          <p:cNvPr id="7" name="Rectangle 7"/>
          <p:cNvSpPr/>
          <p:nvPr/>
        </p:nvSpPr>
        <p:spPr>
          <a:xfrm>
            <a:off x="571500" y="1428750"/>
            <a:ext cx="2286000" cy="1047750"/>
          </a:xfrm>
          <a:prstGeom prst="roundRect">
            <a:avLst>
              <a:gd name="adj" fmla="val 3636"/>
            </a:avLst>
          </a:prstGeom>
          <a:solidFill>
            <a:srgbClr val="F5F7FA"/>
          </a:solidFill>
          <a:ln w="9525">
            <a:solidFill>
              <a:srgbClr val="DFE6E9"/>
            </a:solidFill>
          </a:ln>
        </p:spPr>
      </p:sp>
      <p:sp>
        <p:nvSpPr>
          <p:cNvPr id="8" name="TextBox 8"/>
          <p:cNvSpPr txBox="1"/>
          <p:nvPr/>
        </p:nvSpPr>
        <p:spPr>
          <a:xfrm>
            <a:off x="1421521" y="1520190"/>
            <a:ext cx="585959" cy="352044"/>
          </a:xfrm>
          <a:prstGeom prst="rect">
            <a:avLst/>
          </a:prstGeom>
          <a:noFill/>
          <a:ln>
            <a:noFill/>
          </a:ln>
        </p:spPr>
        <p:txBody>
          <a:bodyPr wrap="none" lIns="0" tIns="0" rIns="0" bIns="0" anchor="t" anchorCtr="0">
            <a:spAutoFit/>
          </a:bodyPr>
          <a:lstStyle/>
          <a:p>
            <a:pPr algn="ctr"/>
            <a:r>
              <a:rPr lang="en-US" sz="1800" b="1" dirty="0">
                <a:solidFill>
                  <a:srgbClr val="1A3A5C"/>
                </a:solidFill>
                <a:latin typeface="Segoe UI"/>
                <a:ea typeface="Segoe UI"/>
                <a:cs typeface="Segoe UI"/>
              </a:rPr>
              <a:t>User</a:t>
            </a:r>
          </a:p>
        </p:txBody>
      </p:sp>
      <p:sp>
        <p:nvSpPr>
          <p:cNvPr id="9" name="TextBox 9"/>
          <p:cNvSpPr txBox="1"/>
          <p:nvPr/>
        </p:nvSpPr>
        <p:spPr>
          <a:xfrm>
            <a:off x="1231044" y="1870710"/>
            <a:ext cx="966911"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Consolas"/>
                <a:ea typeface="Consolas"/>
                <a:cs typeface="Consolas"/>
              </a:rPr>
              <a:t>PK: user_id</a:t>
            </a:r>
          </a:p>
        </p:txBody>
      </p:sp>
      <p:sp>
        <p:nvSpPr>
          <p:cNvPr id="10" name="TextBox 10"/>
          <p:cNvSpPr txBox="1"/>
          <p:nvPr/>
        </p:nvSpPr>
        <p:spPr>
          <a:xfrm>
            <a:off x="896645" y="2108835"/>
            <a:ext cx="1635709" cy="234696"/>
          </a:xfrm>
          <a:prstGeom prst="rect">
            <a:avLst/>
          </a:prstGeom>
          <a:noFill/>
          <a:ln>
            <a:noFill/>
          </a:ln>
        </p:spPr>
        <p:txBody>
          <a:bodyPr wrap="none" lIns="0" tIns="0" rIns="0" bIns="0" anchor="t" anchorCtr="0">
            <a:spAutoFit/>
          </a:bodyPr>
          <a:lstStyle/>
          <a:p>
            <a:pPr algn="ctr"/>
            <a:r>
              <a:rPr lang="en-US" sz="1200" dirty="0">
                <a:solidFill>
                  <a:srgbClr val="636E72"/>
                </a:solidFill>
                <a:latin typeface="Consolas"/>
                <a:ea typeface="Consolas"/>
                <a:cs typeface="Consolas"/>
              </a:rPr>
              <a:t>username, password</a:t>
            </a:r>
          </a:p>
        </p:txBody>
      </p:sp>
      <p:sp>
        <p:nvSpPr>
          <p:cNvPr id="11" name="TextBox 11"/>
          <p:cNvSpPr txBox="1"/>
          <p:nvPr/>
        </p:nvSpPr>
        <p:spPr>
          <a:xfrm>
            <a:off x="795680" y="2299335"/>
            <a:ext cx="1837639" cy="234696"/>
          </a:xfrm>
          <a:prstGeom prst="rect">
            <a:avLst/>
          </a:prstGeom>
          <a:noFill/>
          <a:ln>
            <a:noFill/>
          </a:ln>
        </p:spPr>
        <p:txBody>
          <a:bodyPr wrap="none" lIns="0" tIns="0" rIns="0" bIns="0" anchor="t" anchorCtr="0">
            <a:spAutoFit/>
          </a:bodyPr>
          <a:lstStyle/>
          <a:p>
            <a:pPr algn="ctr"/>
            <a:r>
              <a:rPr lang="en-US" sz="1200" dirty="0">
                <a:solidFill>
                  <a:srgbClr val="636E72"/>
                </a:solidFill>
                <a:latin typeface="Consolas"/>
                <a:ea typeface="Consolas"/>
                <a:cs typeface="Consolas"/>
              </a:rPr>
              <a:t>role, phone, real_name</a:t>
            </a:r>
          </a:p>
        </p:txBody>
      </p:sp>
      <p:sp>
        <p:nvSpPr>
          <p:cNvPr id="12" name="Rectangle 12"/>
          <p:cNvSpPr/>
          <p:nvPr/>
        </p:nvSpPr>
        <p:spPr>
          <a:xfrm>
            <a:off x="3048000" y="1428750"/>
            <a:ext cx="2476500" cy="1047750"/>
          </a:xfrm>
          <a:prstGeom prst="roundRect">
            <a:avLst>
              <a:gd name="adj" fmla="val 3636"/>
            </a:avLst>
          </a:prstGeom>
          <a:solidFill>
            <a:srgbClr val="F5F7FA"/>
          </a:solidFill>
          <a:ln w="9525">
            <a:solidFill>
              <a:srgbClr val="DFE6E9"/>
            </a:solidFill>
          </a:ln>
        </p:spPr>
      </p:sp>
      <p:sp>
        <p:nvSpPr>
          <p:cNvPr id="13" name="TextBox 13"/>
          <p:cNvSpPr txBox="1"/>
          <p:nvPr/>
        </p:nvSpPr>
        <p:spPr>
          <a:xfrm>
            <a:off x="3757715" y="1520190"/>
            <a:ext cx="1057069" cy="352044"/>
          </a:xfrm>
          <a:prstGeom prst="rect">
            <a:avLst/>
          </a:prstGeom>
          <a:noFill/>
          <a:ln>
            <a:noFill/>
          </a:ln>
        </p:spPr>
        <p:txBody>
          <a:bodyPr wrap="none" lIns="0" tIns="0" rIns="0" bIns="0" anchor="t" anchorCtr="0">
            <a:spAutoFit/>
          </a:bodyPr>
          <a:lstStyle/>
          <a:p>
            <a:pPr algn="ctr"/>
            <a:r>
              <a:rPr lang="en-US" sz="1800" b="1" dirty="0">
                <a:solidFill>
                  <a:srgbClr val="1A3A5C"/>
                </a:solidFill>
                <a:latin typeface="Segoe UI"/>
                <a:ea typeface="Segoe UI"/>
                <a:cs typeface="Segoe UI"/>
              </a:rPr>
              <a:t>Company</a:t>
            </a:r>
          </a:p>
        </p:txBody>
      </p:sp>
      <p:sp>
        <p:nvSpPr>
          <p:cNvPr id="14" name="TextBox 14"/>
          <p:cNvSpPr txBox="1"/>
          <p:nvPr/>
        </p:nvSpPr>
        <p:spPr>
          <a:xfrm>
            <a:off x="3646097" y="1870710"/>
            <a:ext cx="1280307"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Consolas"/>
                <a:ea typeface="Consolas"/>
                <a:cs typeface="Consolas"/>
              </a:rPr>
              <a:t>PK: company_id</a:t>
            </a:r>
          </a:p>
        </p:txBody>
      </p:sp>
      <p:sp>
        <p:nvSpPr>
          <p:cNvPr id="15" name="TextBox 15"/>
          <p:cNvSpPr txBox="1"/>
          <p:nvPr/>
        </p:nvSpPr>
        <p:spPr>
          <a:xfrm>
            <a:off x="3714750" y="2108835"/>
            <a:ext cx="1143000" cy="234696"/>
          </a:xfrm>
          <a:prstGeom prst="rect">
            <a:avLst/>
          </a:prstGeom>
          <a:noFill/>
          <a:ln>
            <a:noFill/>
          </a:ln>
        </p:spPr>
        <p:txBody>
          <a:bodyPr wrap="none" lIns="0" tIns="0" rIns="0" bIns="0" anchor="t" anchorCtr="0">
            <a:spAutoFit/>
          </a:bodyPr>
          <a:lstStyle/>
          <a:p>
            <a:pPr algn="ctr"/>
            <a:r>
              <a:rPr lang="en-US" sz="1200" dirty="0">
                <a:solidFill>
                  <a:srgbClr val="636E72"/>
                </a:solidFill>
                <a:latin typeface="Consolas"/>
                <a:ea typeface="Consolas"/>
                <a:cs typeface="Consolas"/>
              </a:rPr>
              <a:t>company_name</a:t>
            </a:r>
          </a:p>
        </p:txBody>
      </p:sp>
      <p:sp>
        <p:nvSpPr>
          <p:cNvPr id="16" name="Rectangle 16"/>
          <p:cNvSpPr/>
          <p:nvPr/>
        </p:nvSpPr>
        <p:spPr>
          <a:xfrm>
            <a:off x="5715000" y="1428750"/>
            <a:ext cx="2667000" cy="1047750"/>
          </a:xfrm>
          <a:prstGeom prst="roundRect">
            <a:avLst>
              <a:gd name="adj" fmla="val 3636"/>
            </a:avLst>
          </a:prstGeom>
          <a:solidFill>
            <a:srgbClr val="F5F7FA"/>
          </a:solidFill>
          <a:ln w="9525">
            <a:solidFill>
              <a:srgbClr val="DFE6E9"/>
            </a:solidFill>
          </a:ln>
        </p:spPr>
      </p:sp>
      <p:sp>
        <p:nvSpPr>
          <p:cNvPr id="17" name="TextBox 17"/>
          <p:cNvSpPr txBox="1"/>
          <p:nvPr/>
        </p:nvSpPr>
        <p:spPr>
          <a:xfrm>
            <a:off x="6577675" y="1520190"/>
            <a:ext cx="941649" cy="352044"/>
          </a:xfrm>
          <a:prstGeom prst="rect">
            <a:avLst/>
          </a:prstGeom>
          <a:noFill/>
          <a:ln>
            <a:noFill/>
          </a:ln>
        </p:spPr>
        <p:txBody>
          <a:bodyPr wrap="none" lIns="0" tIns="0" rIns="0" bIns="0" anchor="t" anchorCtr="0">
            <a:spAutoFit/>
          </a:bodyPr>
          <a:lstStyle/>
          <a:p>
            <a:pPr algn="ctr"/>
            <a:r>
              <a:rPr lang="en-US" sz="1800" b="1" dirty="0">
                <a:solidFill>
                  <a:srgbClr val="1A3A5C"/>
                </a:solidFill>
                <a:latin typeface="Segoe UI"/>
                <a:ea typeface="Segoe UI"/>
                <a:cs typeface="Segoe UI"/>
              </a:rPr>
              <a:t>Station</a:t>
            </a:r>
          </a:p>
        </p:txBody>
      </p:sp>
      <p:sp>
        <p:nvSpPr>
          <p:cNvPr id="18" name="TextBox 18"/>
          <p:cNvSpPr txBox="1"/>
          <p:nvPr/>
        </p:nvSpPr>
        <p:spPr>
          <a:xfrm>
            <a:off x="6446904" y="1870710"/>
            <a:ext cx="1203192"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Consolas"/>
                <a:ea typeface="Consolas"/>
                <a:cs typeface="Consolas"/>
              </a:rPr>
              <a:t>PK: station_id</a:t>
            </a:r>
          </a:p>
        </p:txBody>
      </p:sp>
      <p:sp>
        <p:nvSpPr>
          <p:cNvPr id="19" name="TextBox 19"/>
          <p:cNvSpPr txBox="1"/>
          <p:nvPr/>
        </p:nvSpPr>
        <p:spPr>
          <a:xfrm>
            <a:off x="6438540" y="2108835"/>
            <a:ext cx="1219920" cy="234696"/>
          </a:xfrm>
          <a:prstGeom prst="rect">
            <a:avLst/>
          </a:prstGeom>
          <a:noFill/>
          <a:ln>
            <a:noFill/>
          </a:ln>
        </p:spPr>
        <p:txBody>
          <a:bodyPr wrap="none" lIns="0" tIns="0" rIns="0" bIns="0" anchor="t" anchorCtr="0">
            <a:spAutoFit/>
          </a:bodyPr>
          <a:lstStyle/>
          <a:p>
            <a:pPr algn="ctr"/>
            <a:r>
              <a:rPr lang="en-US" sz="1200" dirty="0">
                <a:solidFill>
                  <a:srgbClr val="636E72"/>
                </a:solidFill>
                <a:latin typeface="Consolas"/>
                <a:ea typeface="Consolas"/>
                <a:cs typeface="Consolas"/>
              </a:rPr>
              <a:t>FK: company_id</a:t>
            </a:r>
          </a:p>
        </p:txBody>
      </p:sp>
      <p:sp>
        <p:nvSpPr>
          <p:cNvPr id="20" name="Rectangle 20"/>
          <p:cNvSpPr/>
          <p:nvPr/>
        </p:nvSpPr>
        <p:spPr>
          <a:xfrm>
            <a:off x="8572500" y="1428750"/>
            <a:ext cx="3143250" cy="1047750"/>
          </a:xfrm>
          <a:prstGeom prst="roundRect">
            <a:avLst>
              <a:gd name="adj" fmla="val 3636"/>
            </a:avLst>
          </a:prstGeom>
          <a:solidFill>
            <a:srgbClr val="F5F7FA"/>
          </a:solidFill>
          <a:ln w="9525">
            <a:solidFill>
              <a:srgbClr val="DFE6E9"/>
            </a:solidFill>
          </a:ln>
        </p:spPr>
      </p:sp>
      <p:sp>
        <p:nvSpPr>
          <p:cNvPr id="21" name="TextBox 21"/>
          <p:cNvSpPr txBox="1"/>
          <p:nvPr/>
        </p:nvSpPr>
        <p:spPr>
          <a:xfrm>
            <a:off x="9641239" y="1520190"/>
            <a:ext cx="1005771" cy="352044"/>
          </a:xfrm>
          <a:prstGeom prst="rect">
            <a:avLst/>
          </a:prstGeom>
          <a:noFill/>
          <a:ln>
            <a:noFill/>
          </a:ln>
        </p:spPr>
        <p:txBody>
          <a:bodyPr wrap="none" lIns="0" tIns="0" rIns="0" bIns="0" anchor="t" anchorCtr="0">
            <a:spAutoFit/>
          </a:bodyPr>
          <a:lstStyle/>
          <a:p>
            <a:pPr algn="ctr"/>
            <a:r>
              <a:rPr lang="en-US" sz="1800" b="1" dirty="0">
                <a:solidFill>
                  <a:srgbClr val="1A3A5C"/>
                </a:solidFill>
                <a:latin typeface="Segoe UI"/>
                <a:ea typeface="Segoe UI"/>
                <a:cs typeface="Segoe UI"/>
              </a:rPr>
              <a:t>Package</a:t>
            </a:r>
          </a:p>
        </p:txBody>
      </p:sp>
      <p:sp>
        <p:nvSpPr>
          <p:cNvPr id="22" name="TextBox 22"/>
          <p:cNvSpPr txBox="1"/>
          <p:nvPr/>
        </p:nvSpPr>
        <p:spPr>
          <a:xfrm>
            <a:off x="9474546" y="1870710"/>
            <a:ext cx="1339158"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Consolas"/>
                <a:ea typeface="Consolas"/>
                <a:cs typeface="Consolas"/>
              </a:rPr>
              <a:t>PK: tracking_no</a:t>
            </a:r>
          </a:p>
        </p:txBody>
      </p:sp>
      <p:sp>
        <p:nvSpPr>
          <p:cNvPr id="23" name="TextBox 23"/>
          <p:cNvSpPr txBox="1"/>
          <p:nvPr/>
        </p:nvSpPr>
        <p:spPr>
          <a:xfrm>
            <a:off x="9174507" y="2108835"/>
            <a:ext cx="1939236" cy="234696"/>
          </a:xfrm>
          <a:prstGeom prst="rect">
            <a:avLst/>
          </a:prstGeom>
          <a:noFill/>
          <a:ln>
            <a:noFill/>
          </a:ln>
        </p:spPr>
        <p:txBody>
          <a:bodyPr wrap="none" lIns="0" tIns="0" rIns="0" bIns="0" anchor="t" anchorCtr="0">
            <a:spAutoFit/>
          </a:bodyPr>
          <a:lstStyle/>
          <a:p>
            <a:pPr algn="ctr"/>
            <a:r>
              <a:rPr lang="en-US" sz="1200" dirty="0">
                <a:solidFill>
                  <a:srgbClr val="636E72"/>
                </a:solidFill>
                <a:latin typeface="Consolas"/>
                <a:ea typeface="Consolas"/>
                <a:cs typeface="Consolas"/>
              </a:rPr>
              <a:t>FK: user_id, company_id</a:t>
            </a:r>
          </a:p>
        </p:txBody>
      </p:sp>
      <p:sp>
        <p:nvSpPr>
          <p:cNvPr id="24" name="Rectangle 24"/>
          <p:cNvSpPr/>
          <p:nvPr/>
        </p:nvSpPr>
        <p:spPr>
          <a:xfrm>
            <a:off x="2667000" y="2762250"/>
            <a:ext cx="6858000" cy="1047750"/>
          </a:xfrm>
          <a:prstGeom prst="roundRect">
            <a:avLst>
              <a:gd name="adj" fmla="val 3636"/>
            </a:avLst>
          </a:prstGeom>
          <a:solidFill>
            <a:srgbClr val="00A8A8">
              <a:alpha val="8000"/>
            </a:srgbClr>
          </a:solidFill>
          <a:ln w="19050">
            <a:solidFill>
              <a:srgbClr val="00A8A8"/>
            </a:solidFill>
          </a:ln>
        </p:spPr>
      </p:sp>
      <p:sp>
        <p:nvSpPr>
          <p:cNvPr id="25" name="TextBox 25"/>
          <p:cNvSpPr txBox="1"/>
          <p:nvPr/>
        </p:nvSpPr>
        <p:spPr>
          <a:xfrm>
            <a:off x="5201422" y="2901315"/>
            <a:ext cx="1789155" cy="352044"/>
          </a:xfrm>
          <a:prstGeom prst="rect">
            <a:avLst/>
          </a:prstGeom>
          <a:noFill/>
          <a:ln>
            <a:noFill/>
          </a:ln>
        </p:spPr>
        <p:txBody>
          <a:bodyPr wrap="none" lIns="0" tIns="0" rIns="0" bIns="0" anchor="t" anchorCtr="0">
            <a:spAutoFit/>
          </a:bodyPr>
          <a:lstStyle/>
          <a:p>
            <a:pPr algn="ctr"/>
            <a:r>
              <a:rPr lang="en-US" sz="1800" b="1" dirty="0">
                <a:solidFill>
                  <a:srgbClr val="1A3A5C"/>
                </a:solidFill>
                <a:latin typeface="Segoe UI"/>
                <a:ea typeface="Segoe UI"/>
                <a:cs typeface="Segoe UI"/>
              </a:rPr>
              <a:t>TransitRecord</a:t>
            </a:r>
          </a:p>
        </p:txBody>
      </p:sp>
      <p:sp>
        <p:nvSpPr>
          <p:cNvPr id="26" name="TextBox 26"/>
          <p:cNvSpPr txBox="1"/>
          <p:nvPr/>
        </p:nvSpPr>
        <p:spPr>
          <a:xfrm>
            <a:off x="5519529" y="3251835"/>
            <a:ext cx="1152943" cy="234696"/>
          </a:xfrm>
          <a:prstGeom prst="rect">
            <a:avLst/>
          </a:prstGeom>
          <a:noFill/>
          <a:ln>
            <a:noFill/>
          </a:ln>
        </p:spPr>
        <p:txBody>
          <a:bodyPr wrap="none" lIns="0" tIns="0" rIns="0" bIns="0" anchor="t" anchorCtr="0">
            <a:spAutoFit/>
          </a:bodyPr>
          <a:lstStyle/>
          <a:p>
            <a:pPr algn="ctr"/>
            <a:r>
              <a:rPr lang="en-US" sz="1200" b="1" dirty="0">
                <a:solidFill>
                  <a:srgbClr val="2D3436"/>
                </a:solidFill>
                <a:latin typeface="Consolas"/>
                <a:ea typeface="Consolas"/>
                <a:cs typeface="Consolas"/>
              </a:rPr>
              <a:t>PK: record_id</a:t>
            </a:r>
          </a:p>
        </p:txBody>
      </p:sp>
      <p:sp>
        <p:nvSpPr>
          <p:cNvPr id="27" name="TextBox 27"/>
          <p:cNvSpPr txBox="1"/>
          <p:nvPr/>
        </p:nvSpPr>
        <p:spPr>
          <a:xfrm>
            <a:off x="3462918" y="3470910"/>
            <a:ext cx="5266164" cy="234696"/>
          </a:xfrm>
          <a:prstGeom prst="rect">
            <a:avLst/>
          </a:prstGeom>
          <a:noFill/>
          <a:ln>
            <a:noFill/>
          </a:ln>
        </p:spPr>
        <p:txBody>
          <a:bodyPr wrap="none" lIns="0" tIns="0" rIns="0" bIns="0" anchor="t" anchorCtr="0">
            <a:spAutoFit/>
          </a:bodyPr>
          <a:lstStyle/>
          <a:p>
            <a:pPr algn="ctr"/>
            <a:r>
              <a:rPr lang="en-US" sz="1200" dirty="0">
                <a:solidFill>
                  <a:srgbClr val="636E72"/>
                </a:solidFill>
                <a:latin typeface="Consolas"/>
                <a:ea typeface="Consolas"/>
                <a:cs typeface="Consolas"/>
              </a:rPr>
              <a:t>FK: tracking_no, current_station_id, next_station_id, courier_id</a:t>
            </a:r>
          </a:p>
        </p:txBody>
      </p:sp>
      <p:sp>
        <p:nvSpPr>
          <p:cNvPr id="28" name="Rectangle 28"/>
          <p:cNvSpPr/>
          <p:nvPr/>
        </p:nvSpPr>
        <p:spPr>
          <a:xfrm>
            <a:off x="571500" y="4191000"/>
            <a:ext cx="11049000" cy="1143000"/>
          </a:xfrm>
          <a:prstGeom prst="roundRect">
            <a:avLst>
              <a:gd name="adj" fmla="val 3333"/>
            </a:avLst>
          </a:prstGeom>
          <a:solidFill>
            <a:srgbClr val="F5F7FA"/>
          </a:solidFill>
          <a:ln w="9525">
            <a:solidFill>
              <a:srgbClr val="DFE6E9"/>
            </a:solidFill>
          </a:ln>
        </p:spPr>
      </p:sp>
      <p:sp>
        <p:nvSpPr>
          <p:cNvPr id="29" name="TextBox 29"/>
          <p:cNvSpPr txBox="1"/>
          <p:nvPr/>
        </p:nvSpPr>
        <p:spPr>
          <a:xfrm>
            <a:off x="751332" y="4297680"/>
            <a:ext cx="1802359" cy="410718"/>
          </a:xfrm>
          <a:prstGeom prst="rect">
            <a:avLst/>
          </a:prstGeom>
          <a:noFill/>
          <a:ln>
            <a:noFill/>
          </a:ln>
        </p:spPr>
        <p:txBody>
          <a:bodyPr wrap="none" lIns="0" tIns="0" rIns="0" bIns="0" anchor="t" anchorCtr="0">
            <a:spAutoFit/>
          </a:bodyPr>
          <a:lstStyle/>
          <a:p>
            <a:pPr algn="l"/>
            <a:r>
              <a:rPr lang="zh-CN" sz="2100" b="1" dirty="0">
                <a:solidFill>
                  <a:srgbClr val="1A3A5C"/>
                </a:solidFill>
                <a:latin typeface="Segoe UI"/>
                <a:ea typeface="Microsoft YaHei"/>
                <a:cs typeface="Segoe UI"/>
              </a:rPr>
              <a:t>转换规则说明</a:t>
            </a:r>
          </a:p>
        </p:txBody>
      </p:sp>
      <p:sp>
        <p:nvSpPr>
          <p:cNvPr id="30" name="TextBox 30"/>
          <p:cNvSpPr txBox="1"/>
          <p:nvPr/>
        </p:nvSpPr>
        <p:spPr>
          <a:xfrm>
            <a:off x="944118" y="4727258"/>
            <a:ext cx="5092275"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规则1：每个实体 → 一张关系表，实体主码 → 表主键</a:t>
            </a:r>
          </a:p>
        </p:txBody>
      </p:sp>
      <p:sp>
        <p:nvSpPr>
          <p:cNvPr id="31" name="TextBox 31"/>
          <p:cNvSpPr txBox="1"/>
          <p:nvPr/>
        </p:nvSpPr>
        <p:spPr>
          <a:xfrm>
            <a:off x="944118" y="5013008"/>
            <a:ext cx="6846418"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规则2：1:N 联系 → 在 N 端加入 1 端主键作为外键（共 7 条外键）</a:t>
            </a:r>
          </a:p>
        </p:txBody>
      </p:sp>
      <p:sp>
        <p:nvSpPr>
          <p:cNvPr id="32" name="Rectangle 32"/>
          <p:cNvSpPr/>
          <p:nvPr/>
        </p:nvSpPr>
        <p:spPr>
          <a:xfrm>
            <a:off x="762000" y="6191250"/>
            <a:ext cx="10668000" cy="9525"/>
          </a:xfrm>
          <a:prstGeom prst="rect">
            <a:avLst/>
          </a:prstGeom>
          <a:solidFill>
            <a:srgbClr val="DFE6E9"/>
          </a:solidFill>
          <a:ln>
            <a:noFill/>
          </a:ln>
        </p:spPr>
      </p:sp>
      <p:sp>
        <p:nvSpPr>
          <p:cNvPr id="33" name="TextBox 33"/>
          <p:cNvSpPr txBox="1"/>
          <p:nvPr/>
        </p:nvSpPr>
        <p:spPr>
          <a:xfrm>
            <a:off x="10914278" y="6331268"/>
            <a:ext cx="522580" cy="264033"/>
          </a:xfrm>
          <a:prstGeom prst="rect">
            <a:avLst/>
          </a:prstGeom>
          <a:noFill/>
          <a:ln>
            <a:noFill/>
          </a:ln>
        </p:spPr>
        <p:txBody>
          <a:bodyPr wrap="none" lIns="0" tIns="0" rIns="0" bIns="0" anchor="t" anchorCtr="0">
            <a:spAutoFit/>
          </a:bodyPr>
          <a:lstStyle/>
          <a:p>
            <a:pPr algn="r"/>
            <a:r>
              <a:rPr lang="en-US" sz="1350" dirty="0">
                <a:solidFill>
                  <a:srgbClr val="B2BEC3"/>
                </a:solidFill>
                <a:latin typeface="Segoe UI"/>
                <a:ea typeface="Segoe UI"/>
                <a:cs typeface="Segoe UI"/>
              </a:rPr>
              <a:t>6 / 11</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1A3A5C"/>
          </a:solidFill>
          <a:ln>
            <a:noFill/>
          </a:ln>
        </p:spPr>
      </p:sp>
      <p:sp>
        <p:nvSpPr>
          <p:cNvPr id="4" name="TextBox 4"/>
          <p:cNvSpPr txBox="1"/>
          <p:nvPr/>
        </p:nvSpPr>
        <p:spPr>
          <a:xfrm>
            <a:off x="743712" y="297180"/>
            <a:ext cx="3531413" cy="704088"/>
          </a:xfrm>
          <a:prstGeom prst="rect">
            <a:avLst/>
          </a:prstGeom>
          <a:noFill/>
          <a:ln>
            <a:noFill/>
          </a:ln>
        </p:spPr>
        <p:txBody>
          <a:bodyPr wrap="none" lIns="0" tIns="0" rIns="0" bIns="0" anchor="t" anchorCtr="0">
            <a:spAutoFit/>
          </a:bodyPr>
          <a:lstStyle/>
          <a:p>
            <a:pPr algn="l"/>
            <a:r>
              <a:rPr lang="zh-CN" sz="3600" b="1" dirty="0">
                <a:solidFill>
                  <a:srgbClr val="1A3A5C"/>
                </a:solidFill>
                <a:latin typeface="Segoe UI"/>
                <a:ea typeface="Microsoft YaHei"/>
                <a:cs typeface="Segoe UI"/>
              </a:rPr>
              <a:t>BCNF 范式检验</a:t>
            </a:r>
          </a:p>
        </p:txBody>
      </p:sp>
      <p:sp>
        <p:nvSpPr>
          <p:cNvPr id="5" name="Line 5"/>
          <p:cNvSpPr/>
          <p:nvPr/>
        </p:nvSpPr>
        <p:spPr>
          <a:xfrm>
            <a:off x="762000" y="857250"/>
            <a:ext cx="2095500" cy="9525"/>
          </a:xfrm>
          <a:custGeom>
            <a:avLst/>
            <a:gdLst/>
            <a:ahLst/>
            <a:cxnLst/>
            <a:rect l="l" t="t" r="r" b="b"/>
            <a:pathLst>
              <a:path w="2095500" h="9525">
                <a:moveTo>
                  <a:pt x="0" y="0"/>
                </a:moveTo>
                <a:lnTo>
                  <a:pt x="2095500" y="0"/>
                </a:lnTo>
              </a:path>
            </a:pathLst>
          </a:custGeom>
          <a:noFill/>
          <a:ln w="28575">
            <a:solidFill>
              <a:srgbClr val="00A8A8"/>
            </a:solidFill>
          </a:ln>
        </p:spPr>
      </p:sp>
      <p:sp>
        <p:nvSpPr>
          <p:cNvPr id="6" name="TextBox 6"/>
          <p:cNvSpPr txBox="1"/>
          <p:nvPr/>
        </p:nvSpPr>
        <p:spPr>
          <a:xfrm>
            <a:off x="753618" y="1012508"/>
            <a:ext cx="8102041" cy="322707"/>
          </a:xfrm>
          <a:prstGeom prst="rect">
            <a:avLst/>
          </a:prstGeom>
          <a:noFill/>
          <a:ln>
            <a:noFill/>
          </a:ln>
        </p:spPr>
        <p:txBody>
          <a:bodyPr wrap="none" lIns="0" tIns="0" rIns="0" bIns="0" anchor="t" anchorCtr="0">
            <a:spAutoFit/>
          </a:bodyPr>
          <a:lstStyle/>
          <a:p>
            <a:pPr algn="l"/>
            <a:r>
              <a:rPr lang="zh-CN" sz="1650" dirty="0">
                <a:solidFill>
                  <a:srgbClr val="636E72"/>
                </a:solidFill>
                <a:latin typeface="Segoe UI"/>
                <a:ea typeface="Microsoft YaHei"/>
                <a:cs typeface="Segoe UI"/>
              </a:rPr>
              <a:t>BCNF 要求：每个非平凡函数依赖 X→Y，X 必须包含候选码。逐一检验 5 张表：</a:t>
            </a:r>
          </a:p>
        </p:txBody>
      </p:sp>
      <p:sp>
        <p:nvSpPr>
          <p:cNvPr id="7" name="Rectangle 7"/>
          <p:cNvSpPr/>
          <p:nvPr/>
        </p:nvSpPr>
        <p:spPr>
          <a:xfrm>
            <a:off x="762000" y="1476375"/>
            <a:ext cx="10668000" cy="590550"/>
          </a:xfrm>
          <a:prstGeom prst="roundRect">
            <a:avLst>
              <a:gd name="adj" fmla="val 6452"/>
            </a:avLst>
          </a:prstGeom>
          <a:solidFill>
            <a:srgbClr val="F5F7FA"/>
          </a:solidFill>
          <a:ln w="9525">
            <a:solidFill>
              <a:srgbClr val="DFE6E9"/>
            </a:solidFill>
          </a:ln>
        </p:spPr>
      </p:sp>
      <p:sp>
        <p:nvSpPr>
          <p:cNvPr id="8" name="TextBox 8"/>
          <p:cNvSpPr txBox="1"/>
          <p:nvPr/>
        </p:nvSpPr>
        <p:spPr>
          <a:xfrm>
            <a:off x="943356" y="1644015"/>
            <a:ext cx="9863938" cy="352044"/>
          </a:xfrm>
          <a:prstGeom prst="rect">
            <a:avLst/>
          </a:prstGeom>
          <a:noFill/>
          <a:ln>
            <a:noFill/>
          </a:ln>
        </p:spPr>
        <p:txBody>
          <a:bodyPr wrap="none" lIns="0" tIns="0" rIns="0" bIns="0" anchor="t" anchorCtr="0">
            <a:spAutoFit/>
          </a:bodyPr>
          <a:lstStyle/>
          <a:p>
            <a:pPr algn="l"/>
            <a:r>
              <a:rPr lang="en-US" sz="1800" b="1" dirty="0">
                <a:solidFill>
                  <a:srgbClr val="1A3A5C"/>
                </a:solidFill>
                <a:latin typeface="Segoe UI"/>
                <a:ea typeface="Segoe UI"/>
                <a:cs typeface="Segoe UI"/>
              </a:rPr>
              <a:t>User</a:t>
            </a:r>
            <a:r>
              <a:rPr lang="zh-CN" sz="1800" dirty="0">
                <a:solidFill>
                  <a:srgbClr val="2D3436"/>
                </a:solidFill>
                <a:latin typeface="Segoe UI"/>
                <a:ea typeface="Microsoft YaHei"/>
                <a:cs typeface="Segoe UI"/>
              </a:rPr>
              <a:t xml:space="preserve"> user_id → all · username → user_id · 候选码 {user_id, username} → </a:t>
            </a:r>
            <a:r>
              <a:rPr lang="zh-CN" sz="1800" b="1" dirty="0">
                <a:solidFill>
                  <a:srgbClr val="00B894"/>
                </a:solidFill>
                <a:latin typeface="Segoe UI"/>
                <a:ea typeface="Microsoft YaHei"/>
                <a:cs typeface="Segoe UI"/>
              </a:rPr>
              <a:t>满足 BCNF ✓</a:t>
            </a:r>
          </a:p>
        </p:txBody>
      </p:sp>
      <p:sp>
        <p:nvSpPr>
          <p:cNvPr id="9" name="Rectangle 9"/>
          <p:cNvSpPr/>
          <p:nvPr/>
        </p:nvSpPr>
        <p:spPr>
          <a:xfrm>
            <a:off x="762000" y="2114550"/>
            <a:ext cx="10668000" cy="590550"/>
          </a:xfrm>
          <a:prstGeom prst="roundRect">
            <a:avLst>
              <a:gd name="adj" fmla="val 6452"/>
            </a:avLst>
          </a:prstGeom>
          <a:solidFill>
            <a:srgbClr val="F5F7FA"/>
          </a:solidFill>
          <a:ln w="9525">
            <a:solidFill>
              <a:srgbClr val="DFE6E9"/>
            </a:solidFill>
          </a:ln>
        </p:spPr>
      </p:sp>
      <p:sp>
        <p:nvSpPr>
          <p:cNvPr id="10" name="TextBox 10"/>
          <p:cNvSpPr txBox="1"/>
          <p:nvPr/>
        </p:nvSpPr>
        <p:spPr>
          <a:xfrm>
            <a:off x="943356" y="2282190"/>
            <a:ext cx="9684308" cy="352044"/>
          </a:xfrm>
          <a:prstGeom prst="rect">
            <a:avLst/>
          </a:prstGeom>
          <a:noFill/>
          <a:ln>
            <a:noFill/>
          </a:ln>
        </p:spPr>
        <p:txBody>
          <a:bodyPr wrap="none" lIns="0" tIns="0" rIns="0" bIns="0" anchor="t" anchorCtr="0">
            <a:spAutoFit/>
          </a:bodyPr>
          <a:lstStyle/>
          <a:p>
            <a:pPr algn="l"/>
            <a:r>
              <a:rPr lang="en-US" sz="1800" b="1" dirty="0">
                <a:solidFill>
                  <a:srgbClr val="1A3A5C"/>
                </a:solidFill>
                <a:latin typeface="Segoe UI"/>
                <a:ea typeface="Segoe UI"/>
                <a:cs typeface="Segoe UI"/>
              </a:rPr>
              <a:t>Company</a:t>
            </a:r>
            <a:r>
              <a:rPr lang="en-US" sz="1800" dirty="0">
                <a:solidFill>
                  <a:srgbClr val="2D3436"/>
                </a:solidFill>
                <a:latin typeface="Segoe UI"/>
                <a:ea typeface="Segoe UI"/>
                <a:cs typeface="Segoe UI"/>
              </a:rPr>
              <a:t xml:space="preserve"> company_id → company_name · company_name → company_id → </a:t>
            </a:r>
            <a:r>
              <a:rPr lang="zh-CN" sz="1800" b="1" dirty="0">
                <a:solidFill>
                  <a:srgbClr val="00B894"/>
                </a:solidFill>
                <a:latin typeface="Segoe UI"/>
                <a:ea typeface="Microsoft YaHei"/>
                <a:cs typeface="Segoe UI"/>
              </a:rPr>
              <a:t>满足 BCNF ✓</a:t>
            </a:r>
          </a:p>
        </p:txBody>
      </p:sp>
      <p:sp>
        <p:nvSpPr>
          <p:cNvPr id="11" name="Rectangle 11"/>
          <p:cNvSpPr/>
          <p:nvPr/>
        </p:nvSpPr>
        <p:spPr>
          <a:xfrm>
            <a:off x="762000" y="2752725"/>
            <a:ext cx="10668000" cy="590550"/>
          </a:xfrm>
          <a:prstGeom prst="roundRect">
            <a:avLst>
              <a:gd name="adj" fmla="val 6452"/>
            </a:avLst>
          </a:prstGeom>
          <a:solidFill>
            <a:srgbClr val="F5F7FA"/>
          </a:solidFill>
          <a:ln w="9525">
            <a:solidFill>
              <a:srgbClr val="DFE6E9"/>
            </a:solidFill>
          </a:ln>
        </p:spPr>
      </p:sp>
      <p:sp>
        <p:nvSpPr>
          <p:cNvPr id="12" name="TextBox 12"/>
          <p:cNvSpPr txBox="1"/>
          <p:nvPr/>
        </p:nvSpPr>
        <p:spPr>
          <a:xfrm>
            <a:off x="943356" y="2920365"/>
            <a:ext cx="7033654" cy="352044"/>
          </a:xfrm>
          <a:prstGeom prst="rect">
            <a:avLst/>
          </a:prstGeom>
          <a:noFill/>
          <a:ln>
            <a:noFill/>
          </a:ln>
        </p:spPr>
        <p:txBody>
          <a:bodyPr wrap="none" lIns="0" tIns="0" rIns="0" bIns="0" anchor="t" anchorCtr="0">
            <a:spAutoFit/>
          </a:bodyPr>
          <a:lstStyle/>
          <a:p>
            <a:pPr algn="l"/>
            <a:r>
              <a:rPr lang="en-US" sz="1800" b="1" dirty="0">
                <a:solidFill>
                  <a:srgbClr val="1A3A5C"/>
                </a:solidFill>
                <a:latin typeface="Segoe UI"/>
                <a:ea typeface="Segoe UI"/>
                <a:cs typeface="Segoe UI"/>
              </a:rPr>
              <a:t>Station</a:t>
            </a:r>
            <a:r>
              <a:rPr lang="zh-CN" sz="1800" dirty="0">
                <a:solidFill>
                  <a:srgbClr val="2D3436"/>
                </a:solidFill>
                <a:latin typeface="Segoe UI"/>
                <a:ea typeface="Microsoft YaHei"/>
                <a:cs typeface="Segoe UI"/>
              </a:rPr>
              <a:t xml:space="preserve"> station_id → all · 候选码 {station_id} → </a:t>
            </a:r>
            <a:r>
              <a:rPr lang="zh-CN" sz="1800" b="1" dirty="0">
                <a:solidFill>
                  <a:srgbClr val="00B894"/>
                </a:solidFill>
                <a:latin typeface="Segoe UI"/>
                <a:ea typeface="Microsoft YaHei"/>
                <a:cs typeface="Segoe UI"/>
              </a:rPr>
              <a:t>满足 BCNF ✓</a:t>
            </a:r>
          </a:p>
        </p:txBody>
      </p:sp>
      <p:sp>
        <p:nvSpPr>
          <p:cNvPr id="13" name="Rectangle 13"/>
          <p:cNvSpPr/>
          <p:nvPr/>
        </p:nvSpPr>
        <p:spPr>
          <a:xfrm>
            <a:off x="762000" y="3390900"/>
            <a:ext cx="10668000" cy="590550"/>
          </a:xfrm>
          <a:prstGeom prst="roundRect">
            <a:avLst>
              <a:gd name="adj" fmla="val 6452"/>
            </a:avLst>
          </a:prstGeom>
          <a:solidFill>
            <a:srgbClr val="F5F7FA"/>
          </a:solidFill>
          <a:ln w="9525">
            <a:solidFill>
              <a:srgbClr val="DFE6E9"/>
            </a:solidFill>
          </a:ln>
        </p:spPr>
      </p:sp>
      <p:sp>
        <p:nvSpPr>
          <p:cNvPr id="14" name="TextBox 14"/>
          <p:cNvSpPr txBox="1"/>
          <p:nvPr/>
        </p:nvSpPr>
        <p:spPr>
          <a:xfrm>
            <a:off x="943356" y="3558540"/>
            <a:ext cx="7485106" cy="352044"/>
          </a:xfrm>
          <a:prstGeom prst="rect">
            <a:avLst/>
          </a:prstGeom>
          <a:noFill/>
          <a:ln>
            <a:noFill/>
          </a:ln>
        </p:spPr>
        <p:txBody>
          <a:bodyPr wrap="none" lIns="0" tIns="0" rIns="0" bIns="0" anchor="t" anchorCtr="0">
            <a:spAutoFit/>
          </a:bodyPr>
          <a:lstStyle/>
          <a:p>
            <a:pPr algn="l"/>
            <a:r>
              <a:rPr lang="en-US" sz="1800" b="1" dirty="0">
                <a:solidFill>
                  <a:srgbClr val="1A3A5C"/>
                </a:solidFill>
                <a:latin typeface="Segoe UI"/>
                <a:ea typeface="Segoe UI"/>
                <a:cs typeface="Segoe UI"/>
              </a:rPr>
              <a:t>Package</a:t>
            </a:r>
            <a:r>
              <a:rPr lang="zh-CN" sz="1800" dirty="0">
                <a:solidFill>
                  <a:srgbClr val="2D3436"/>
                </a:solidFill>
                <a:latin typeface="Segoe UI"/>
                <a:ea typeface="Microsoft YaHei"/>
                <a:cs typeface="Segoe UI"/>
              </a:rPr>
              <a:t xml:space="preserve"> tracking_no → all · 候选码 {tracking_no} → </a:t>
            </a:r>
            <a:r>
              <a:rPr lang="zh-CN" sz="1800" b="1" dirty="0">
                <a:solidFill>
                  <a:srgbClr val="00B894"/>
                </a:solidFill>
                <a:latin typeface="Segoe UI"/>
                <a:ea typeface="Microsoft YaHei"/>
                <a:cs typeface="Segoe UI"/>
              </a:rPr>
              <a:t>满足 BCNF ✓</a:t>
            </a:r>
          </a:p>
        </p:txBody>
      </p:sp>
      <p:sp>
        <p:nvSpPr>
          <p:cNvPr id="15" name="Rectangle 15"/>
          <p:cNvSpPr/>
          <p:nvPr/>
        </p:nvSpPr>
        <p:spPr>
          <a:xfrm>
            <a:off x="762000" y="4029075"/>
            <a:ext cx="10668000" cy="590550"/>
          </a:xfrm>
          <a:prstGeom prst="roundRect">
            <a:avLst>
              <a:gd name="adj" fmla="val 6452"/>
            </a:avLst>
          </a:prstGeom>
          <a:solidFill>
            <a:srgbClr val="F5F7FA"/>
          </a:solidFill>
          <a:ln w="9525">
            <a:solidFill>
              <a:srgbClr val="DFE6E9"/>
            </a:solidFill>
          </a:ln>
        </p:spPr>
      </p:sp>
      <p:sp>
        <p:nvSpPr>
          <p:cNvPr id="16" name="TextBox 16"/>
          <p:cNvSpPr txBox="1"/>
          <p:nvPr/>
        </p:nvSpPr>
        <p:spPr>
          <a:xfrm>
            <a:off x="943356" y="4196715"/>
            <a:ext cx="7738539" cy="352044"/>
          </a:xfrm>
          <a:prstGeom prst="rect">
            <a:avLst/>
          </a:prstGeom>
          <a:noFill/>
          <a:ln>
            <a:noFill/>
          </a:ln>
        </p:spPr>
        <p:txBody>
          <a:bodyPr wrap="none" lIns="0" tIns="0" rIns="0" bIns="0" anchor="t" anchorCtr="0">
            <a:spAutoFit/>
          </a:bodyPr>
          <a:lstStyle/>
          <a:p>
            <a:pPr algn="l"/>
            <a:r>
              <a:rPr lang="en-US" sz="1800" b="1" dirty="0">
                <a:solidFill>
                  <a:srgbClr val="1A3A5C"/>
                </a:solidFill>
                <a:latin typeface="Segoe UI"/>
                <a:ea typeface="Segoe UI"/>
                <a:cs typeface="Segoe UI"/>
              </a:rPr>
              <a:t>TransitRecord</a:t>
            </a:r>
            <a:r>
              <a:rPr lang="zh-CN" sz="1800" dirty="0">
                <a:solidFill>
                  <a:srgbClr val="2D3436"/>
                </a:solidFill>
                <a:latin typeface="Segoe UI"/>
                <a:ea typeface="Microsoft YaHei"/>
                <a:cs typeface="Segoe UI"/>
              </a:rPr>
              <a:t xml:space="preserve"> record_id → all · 候选码 {record_id} → </a:t>
            </a:r>
            <a:r>
              <a:rPr lang="zh-CN" sz="1800" b="1" dirty="0">
                <a:solidFill>
                  <a:srgbClr val="00B894"/>
                </a:solidFill>
                <a:latin typeface="Segoe UI"/>
                <a:ea typeface="Microsoft YaHei"/>
                <a:cs typeface="Segoe UI"/>
              </a:rPr>
              <a:t>满足 BCNF ✓</a:t>
            </a:r>
          </a:p>
        </p:txBody>
      </p:sp>
      <p:sp>
        <p:nvSpPr>
          <p:cNvPr id="17" name="Rectangle 17"/>
          <p:cNvSpPr/>
          <p:nvPr/>
        </p:nvSpPr>
        <p:spPr>
          <a:xfrm>
            <a:off x="762000" y="4857750"/>
            <a:ext cx="10668000" cy="857250"/>
          </a:xfrm>
          <a:prstGeom prst="roundRect">
            <a:avLst>
              <a:gd name="adj" fmla="val 4444"/>
            </a:avLst>
          </a:prstGeom>
          <a:solidFill>
            <a:srgbClr val="E8F8F5"/>
          </a:solidFill>
          <a:ln w="19050">
            <a:solidFill>
              <a:srgbClr val="00B894"/>
            </a:solidFill>
          </a:ln>
        </p:spPr>
      </p:sp>
      <p:sp>
        <p:nvSpPr>
          <p:cNvPr id="18" name="TextBox 18"/>
          <p:cNvSpPr txBox="1"/>
          <p:nvPr/>
        </p:nvSpPr>
        <p:spPr>
          <a:xfrm>
            <a:off x="3001183" y="4979670"/>
            <a:ext cx="6189635" cy="469392"/>
          </a:xfrm>
          <a:prstGeom prst="rect">
            <a:avLst/>
          </a:prstGeom>
          <a:noFill/>
          <a:ln>
            <a:noFill/>
          </a:ln>
        </p:spPr>
        <p:txBody>
          <a:bodyPr wrap="none" lIns="0" tIns="0" rIns="0" bIns="0" anchor="t" anchorCtr="0">
            <a:spAutoFit/>
          </a:bodyPr>
          <a:lstStyle/>
          <a:p>
            <a:pPr algn="ctr"/>
            <a:r>
              <a:rPr lang="zh-CN" sz="2400" b="1" dirty="0">
                <a:solidFill>
                  <a:srgbClr val="00B894"/>
                </a:solidFill>
                <a:latin typeface="Segoe UI"/>
                <a:ea typeface="Microsoft YaHei"/>
                <a:cs typeface="Segoe UI"/>
              </a:rPr>
              <a:t>✅ 5 张表全部满足 BCNF，无需模式分解</a:t>
            </a:r>
          </a:p>
        </p:txBody>
      </p:sp>
      <p:sp>
        <p:nvSpPr>
          <p:cNvPr id="19" name="TextBox 19"/>
          <p:cNvSpPr txBox="1"/>
          <p:nvPr/>
        </p:nvSpPr>
        <p:spPr>
          <a:xfrm>
            <a:off x="2590648" y="5346382"/>
            <a:ext cx="7010705" cy="322707"/>
          </a:xfrm>
          <a:prstGeom prst="rect">
            <a:avLst/>
          </a:prstGeom>
          <a:noFill/>
          <a:ln>
            <a:noFill/>
          </a:ln>
        </p:spPr>
        <p:txBody>
          <a:bodyPr wrap="none" lIns="0" tIns="0" rIns="0" bIns="0" anchor="t" anchorCtr="0">
            <a:spAutoFit/>
          </a:bodyPr>
          <a:lstStyle/>
          <a:p>
            <a:pPr algn="ctr"/>
            <a:r>
              <a:rPr lang="zh-CN" sz="1650" dirty="0">
                <a:solidFill>
                  <a:srgbClr val="636E72"/>
                </a:solidFill>
                <a:latin typeface="Segoe UI"/>
                <a:ea typeface="Microsoft YaHei"/>
                <a:cs typeface="Segoe UI"/>
              </a:rPr>
              <a:t>每个表均无部分函数依赖和传递函数依赖，已达到 BCNF 规范化要求</a:t>
            </a:r>
          </a:p>
        </p:txBody>
      </p:sp>
      <p:sp>
        <p:nvSpPr>
          <p:cNvPr id="20" name="Rectangle 20"/>
          <p:cNvSpPr/>
          <p:nvPr/>
        </p:nvSpPr>
        <p:spPr>
          <a:xfrm>
            <a:off x="762000" y="6191250"/>
            <a:ext cx="10668000" cy="9525"/>
          </a:xfrm>
          <a:prstGeom prst="rect">
            <a:avLst/>
          </a:prstGeom>
          <a:solidFill>
            <a:srgbClr val="DFE6E9"/>
          </a:solidFill>
          <a:ln>
            <a:noFill/>
          </a:ln>
        </p:spPr>
      </p:sp>
      <p:sp>
        <p:nvSpPr>
          <p:cNvPr id="21" name="TextBox 21"/>
          <p:cNvSpPr txBox="1"/>
          <p:nvPr/>
        </p:nvSpPr>
        <p:spPr>
          <a:xfrm>
            <a:off x="10914278" y="6331268"/>
            <a:ext cx="522580" cy="264033"/>
          </a:xfrm>
          <a:prstGeom prst="rect">
            <a:avLst/>
          </a:prstGeom>
          <a:noFill/>
          <a:ln>
            <a:noFill/>
          </a:ln>
        </p:spPr>
        <p:txBody>
          <a:bodyPr wrap="none" lIns="0" tIns="0" rIns="0" bIns="0" anchor="t" anchorCtr="0">
            <a:spAutoFit/>
          </a:bodyPr>
          <a:lstStyle/>
          <a:p>
            <a:pPr algn="r"/>
            <a:r>
              <a:rPr lang="en-US" sz="1350" dirty="0">
                <a:solidFill>
                  <a:srgbClr val="B2BEC3"/>
                </a:solidFill>
                <a:latin typeface="Segoe UI"/>
                <a:ea typeface="Segoe UI"/>
                <a:cs typeface="Segoe UI"/>
              </a:rPr>
              <a:t>7 / 11</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1A3A5C"/>
          </a:solidFill>
          <a:ln>
            <a:noFill/>
          </a:ln>
        </p:spPr>
      </p:sp>
      <p:sp>
        <p:nvSpPr>
          <p:cNvPr id="4" name="TextBox 4"/>
          <p:cNvSpPr txBox="1"/>
          <p:nvPr/>
        </p:nvSpPr>
        <p:spPr>
          <a:xfrm>
            <a:off x="743712" y="297180"/>
            <a:ext cx="4616348" cy="704088"/>
          </a:xfrm>
          <a:prstGeom prst="rect">
            <a:avLst/>
          </a:prstGeom>
          <a:noFill/>
          <a:ln>
            <a:noFill/>
          </a:ln>
        </p:spPr>
        <p:txBody>
          <a:bodyPr wrap="none" lIns="0" tIns="0" rIns="0" bIns="0" anchor="t" anchorCtr="0">
            <a:spAutoFit/>
          </a:bodyPr>
          <a:lstStyle/>
          <a:p>
            <a:pPr algn="l"/>
            <a:r>
              <a:rPr lang="zh-CN" sz="3600" b="1" dirty="0">
                <a:solidFill>
                  <a:srgbClr val="1A3A5C"/>
                </a:solidFill>
                <a:latin typeface="Segoe UI"/>
                <a:ea typeface="Microsoft YaHei"/>
                <a:cs typeface="Segoe UI"/>
              </a:rPr>
              <a:t>物理设计与系统实现</a:t>
            </a:r>
          </a:p>
        </p:txBody>
      </p:sp>
      <p:sp>
        <p:nvSpPr>
          <p:cNvPr id="5" name="Line 5"/>
          <p:cNvSpPr/>
          <p:nvPr/>
        </p:nvSpPr>
        <p:spPr>
          <a:xfrm>
            <a:off x="762000" y="857250"/>
            <a:ext cx="2857500" cy="9525"/>
          </a:xfrm>
          <a:custGeom>
            <a:avLst/>
            <a:gdLst/>
            <a:ahLst/>
            <a:cxnLst/>
            <a:rect l="l" t="t" r="r" b="b"/>
            <a:pathLst>
              <a:path w="2857500" h="9525">
                <a:moveTo>
                  <a:pt x="0" y="0"/>
                </a:moveTo>
                <a:lnTo>
                  <a:pt x="2857500" y="0"/>
                </a:lnTo>
              </a:path>
            </a:pathLst>
          </a:custGeom>
          <a:noFill/>
          <a:ln w="28575">
            <a:solidFill>
              <a:srgbClr val="00A8A8"/>
            </a:solidFill>
          </a:ln>
        </p:spPr>
      </p:sp>
      <p:sp>
        <p:nvSpPr>
          <p:cNvPr id="6" name="TextBox 6"/>
          <p:cNvSpPr txBox="1"/>
          <p:nvPr/>
        </p:nvSpPr>
        <p:spPr>
          <a:xfrm>
            <a:off x="753618" y="1012508"/>
            <a:ext cx="7705866" cy="322707"/>
          </a:xfrm>
          <a:prstGeom prst="rect">
            <a:avLst/>
          </a:prstGeom>
          <a:noFill/>
          <a:ln>
            <a:noFill/>
          </a:ln>
        </p:spPr>
        <p:txBody>
          <a:bodyPr wrap="none" lIns="0" tIns="0" rIns="0" bIns="0" anchor="t" anchorCtr="0">
            <a:spAutoFit/>
          </a:bodyPr>
          <a:lstStyle/>
          <a:p>
            <a:pPr algn="l"/>
            <a:r>
              <a:rPr lang="zh-CN" sz="1650" dirty="0">
                <a:solidFill>
                  <a:srgbClr val="636E72"/>
                </a:solidFill>
                <a:latin typeface="Segoe UI"/>
                <a:ea typeface="Microsoft YaHei"/>
                <a:cs typeface="Segoe UI"/>
              </a:rPr>
              <a:t>PostgreSQL 15 | 5 张表 · 5 个索引 · 3 个存储过程 · 3 个触发器 · 3 个视图</a:t>
            </a:r>
          </a:p>
        </p:txBody>
      </p:sp>
      <p:sp>
        <p:nvSpPr>
          <p:cNvPr id="7" name="Rectangle 7"/>
          <p:cNvSpPr/>
          <p:nvPr/>
        </p:nvSpPr>
        <p:spPr>
          <a:xfrm>
            <a:off x="762000" y="1476375"/>
            <a:ext cx="3333750" cy="1905000"/>
          </a:xfrm>
          <a:prstGeom prst="roundRect">
            <a:avLst>
              <a:gd name="adj" fmla="val 2000"/>
            </a:avLst>
          </a:prstGeom>
          <a:solidFill>
            <a:srgbClr val="F5F7FA"/>
          </a:solidFill>
          <a:ln w="9525">
            <a:solidFill>
              <a:srgbClr val="DFE6E9"/>
            </a:solidFill>
          </a:ln>
        </p:spPr>
      </p:sp>
      <p:sp>
        <p:nvSpPr>
          <p:cNvPr id="8" name="Rectangle 8"/>
          <p:cNvSpPr/>
          <p:nvPr/>
        </p:nvSpPr>
        <p:spPr>
          <a:xfrm>
            <a:off x="762000" y="1476375"/>
            <a:ext cx="3333750" cy="381000"/>
          </a:xfrm>
          <a:prstGeom prst="roundRect">
            <a:avLst>
              <a:gd name="adj" fmla="val 10000"/>
            </a:avLst>
          </a:prstGeom>
          <a:solidFill>
            <a:srgbClr val="1A3A5C"/>
          </a:solidFill>
          <a:ln>
            <a:noFill/>
          </a:ln>
        </p:spPr>
      </p:sp>
      <p:sp>
        <p:nvSpPr>
          <p:cNvPr id="9" name="TextBox 9"/>
          <p:cNvSpPr txBox="1"/>
          <p:nvPr/>
        </p:nvSpPr>
        <p:spPr>
          <a:xfrm>
            <a:off x="1726636" y="1545908"/>
            <a:ext cx="1404477"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存储过程 (3)</a:t>
            </a:r>
          </a:p>
        </p:txBody>
      </p:sp>
      <p:sp>
        <p:nvSpPr>
          <p:cNvPr id="10" name="TextBox 10"/>
          <p:cNvSpPr txBox="1"/>
          <p:nvPr/>
        </p:nvSpPr>
        <p:spPr>
          <a:xfrm>
            <a:off x="945642" y="1997392"/>
            <a:ext cx="1567567" cy="264033"/>
          </a:xfrm>
          <a:prstGeom prst="rect">
            <a:avLst/>
          </a:prstGeom>
          <a:noFill/>
          <a:ln>
            <a:noFill/>
          </a:ln>
        </p:spPr>
        <p:txBody>
          <a:bodyPr wrap="none" lIns="0" tIns="0" rIns="0" bIns="0" anchor="t" anchorCtr="0">
            <a:spAutoFit/>
          </a:bodyPr>
          <a:lstStyle/>
          <a:p>
            <a:pPr algn="l"/>
            <a:r>
              <a:rPr lang="en-US" sz="1350" dirty="0">
                <a:solidFill>
                  <a:srgbClr val="00A8A8"/>
                </a:solidFill>
                <a:latin typeface="Consolas"/>
                <a:ea typeface="Consolas"/>
                <a:cs typeface="Consolas"/>
              </a:rPr>
              <a:t>sp_user_register</a:t>
            </a:r>
          </a:p>
        </p:txBody>
      </p:sp>
      <p:sp>
        <p:nvSpPr>
          <p:cNvPr id="11" name="TextBox 11"/>
          <p:cNvSpPr txBox="1"/>
          <p:nvPr/>
        </p:nvSpPr>
        <p:spPr>
          <a:xfrm>
            <a:off x="945642" y="2235518"/>
            <a:ext cx="1994649" cy="264033"/>
          </a:xfrm>
          <a:prstGeom prst="rect">
            <a:avLst/>
          </a:prstGeom>
          <a:noFill/>
          <a:ln>
            <a:noFill/>
          </a:ln>
        </p:spPr>
        <p:txBody>
          <a:bodyPr wrap="none" lIns="0" tIns="0" rIns="0" bIns="0" anchor="t" anchorCtr="0">
            <a:spAutoFit/>
          </a:bodyPr>
          <a:lstStyle/>
          <a:p>
            <a:pPr algn="l"/>
            <a:r>
              <a:rPr lang="zh-CN" sz="1350" dirty="0">
                <a:solidFill>
                  <a:srgbClr val="636E72"/>
                </a:solidFill>
                <a:latin typeface="Segoe UI"/>
                <a:ea typeface="Microsoft YaHei"/>
                <a:cs typeface="Segoe UI"/>
              </a:rPr>
              <a:t>用户注册，返回 user_id</a:t>
            </a:r>
          </a:p>
        </p:txBody>
      </p:sp>
      <p:sp>
        <p:nvSpPr>
          <p:cNvPr id="12" name="TextBox 12"/>
          <p:cNvSpPr txBox="1"/>
          <p:nvPr/>
        </p:nvSpPr>
        <p:spPr>
          <a:xfrm>
            <a:off x="945642" y="2521268"/>
            <a:ext cx="1367657" cy="264033"/>
          </a:xfrm>
          <a:prstGeom prst="rect">
            <a:avLst/>
          </a:prstGeom>
          <a:noFill/>
          <a:ln>
            <a:noFill/>
          </a:ln>
        </p:spPr>
        <p:txBody>
          <a:bodyPr wrap="none" lIns="0" tIns="0" rIns="0" bIns="0" anchor="t" anchorCtr="0">
            <a:spAutoFit/>
          </a:bodyPr>
          <a:lstStyle/>
          <a:p>
            <a:pPr algn="l"/>
            <a:r>
              <a:rPr lang="en-US" sz="1350" dirty="0">
                <a:solidFill>
                  <a:srgbClr val="00A8A8"/>
                </a:solidFill>
                <a:latin typeface="Consolas"/>
                <a:ea typeface="Consolas"/>
                <a:cs typeface="Consolas"/>
              </a:rPr>
              <a:t>sp_place_order</a:t>
            </a:r>
          </a:p>
        </p:txBody>
      </p:sp>
      <p:sp>
        <p:nvSpPr>
          <p:cNvPr id="13" name="TextBox 13"/>
          <p:cNvSpPr txBox="1"/>
          <p:nvPr/>
        </p:nvSpPr>
        <p:spPr>
          <a:xfrm>
            <a:off x="945642" y="2759392"/>
            <a:ext cx="2221821" cy="264033"/>
          </a:xfrm>
          <a:prstGeom prst="rect">
            <a:avLst/>
          </a:prstGeom>
          <a:noFill/>
          <a:ln>
            <a:noFill/>
          </a:ln>
        </p:spPr>
        <p:txBody>
          <a:bodyPr wrap="none" lIns="0" tIns="0" rIns="0" bIns="0" anchor="t" anchorCtr="0">
            <a:spAutoFit/>
          </a:bodyPr>
          <a:lstStyle/>
          <a:p>
            <a:pPr algn="l"/>
            <a:r>
              <a:rPr lang="zh-CN" sz="1350" dirty="0">
                <a:solidFill>
                  <a:srgbClr val="636E72"/>
                </a:solidFill>
                <a:latin typeface="Segoe UI"/>
                <a:ea typeface="Microsoft YaHei"/>
                <a:cs typeface="Segoe UI"/>
              </a:rPr>
              <a:t>下单新快递，状态 = 待取件</a:t>
            </a:r>
          </a:p>
        </p:txBody>
      </p:sp>
      <p:sp>
        <p:nvSpPr>
          <p:cNvPr id="14" name="TextBox 14"/>
          <p:cNvSpPr txBox="1"/>
          <p:nvPr/>
        </p:nvSpPr>
        <p:spPr>
          <a:xfrm>
            <a:off x="945642" y="3045142"/>
            <a:ext cx="1667523" cy="264033"/>
          </a:xfrm>
          <a:prstGeom prst="rect">
            <a:avLst/>
          </a:prstGeom>
          <a:noFill/>
          <a:ln>
            <a:noFill/>
          </a:ln>
        </p:spPr>
        <p:txBody>
          <a:bodyPr wrap="none" lIns="0" tIns="0" rIns="0" bIns="0" anchor="t" anchorCtr="0">
            <a:spAutoFit/>
          </a:bodyPr>
          <a:lstStyle/>
          <a:p>
            <a:pPr algn="l"/>
            <a:r>
              <a:rPr lang="en-US" sz="1350" dirty="0">
                <a:solidFill>
                  <a:srgbClr val="00A8A8"/>
                </a:solidFill>
                <a:latin typeface="Consolas"/>
                <a:ea typeface="Consolas"/>
                <a:cs typeface="Consolas"/>
              </a:rPr>
              <a:t>sp_update_transit</a:t>
            </a:r>
          </a:p>
        </p:txBody>
      </p:sp>
      <p:sp>
        <p:nvSpPr>
          <p:cNvPr id="15" name="TextBox 15"/>
          <p:cNvSpPr txBox="1"/>
          <p:nvPr/>
        </p:nvSpPr>
        <p:spPr>
          <a:xfrm>
            <a:off x="945642" y="3264218"/>
            <a:ext cx="1467612" cy="264033"/>
          </a:xfrm>
          <a:prstGeom prst="rect">
            <a:avLst/>
          </a:prstGeom>
          <a:noFill/>
          <a:ln>
            <a:noFill/>
          </a:ln>
        </p:spPr>
        <p:txBody>
          <a:bodyPr wrap="none" lIns="0" tIns="0" rIns="0" bIns="0" anchor="t" anchorCtr="0">
            <a:spAutoFit/>
          </a:bodyPr>
          <a:lstStyle/>
          <a:p>
            <a:pPr algn="l"/>
            <a:r>
              <a:rPr lang="zh-CN" sz="1350" dirty="0">
                <a:solidFill>
                  <a:srgbClr val="636E72"/>
                </a:solidFill>
                <a:latin typeface="Segoe UI"/>
                <a:ea typeface="Microsoft YaHei"/>
                <a:cs typeface="Segoe UI"/>
              </a:rPr>
              <a:t>记录包裹中转运输</a:t>
            </a:r>
          </a:p>
        </p:txBody>
      </p:sp>
      <p:sp>
        <p:nvSpPr>
          <p:cNvPr id="16" name="Rectangle 16"/>
          <p:cNvSpPr/>
          <p:nvPr/>
        </p:nvSpPr>
        <p:spPr>
          <a:xfrm>
            <a:off x="4381500" y="1476375"/>
            <a:ext cx="3333750" cy="1905000"/>
          </a:xfrm>
          <a:prstGeom prst="roundRect">
            <a:avLst>
              <a:gd name="adj" fmla="val 2000"/>
            </a:avLst>
          </a:prstGeom>
          <a:solidFill>
            <a:srgbClr val="F5F7FA"/>
          </a:solidFill>
          <a:ln w="9525">
            <a:solidFill>
              <a:srgbClr val="DFE6E9"/>
            </a:solidFill>
          </a:ln>
        </p:spPr>
      </p:sp>
      <p:sp>
        <p:nvSpPr>
          <p:cNvPr id="17" name="Rectangle 17"/>
          <p:cNvSpPr/>
          <p:nvPr/>
        </p:nvSpPr>
        <p:spPr>
          <a:xfrm>
            <a:off x="4381500" y="1476375"/>
            <a:ext cx="3333750" cy="381000"/>
          </a:xfrm>
          <a:prstGeom prst="roundRect">
            <a:avLst>
              <a:gd name="adj" fmla="val 10000"/>
            </a:avLst>
          </a:prstGeom>
          <a:solidFill>
            <a:srgbClr val="0D7377"/>
          </a:solidFill>
          <a:ln>
            <a:noFill/>
          </a:ln>
        </p:spPr>
      </p:sp>
      <p:sp>
        <p:nvSpPr>
          <p:cNvPr id="18" name="TextBox 18"/>
          <p:cNvSpPr txBox="1"/>
          <p:nvPr/>
        </p:nvSpPr>
        <p:spPr>
          <a:xfrm>
            <a:off x="5462751" y="1545908"/>
            <a:ext cx="1171248"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触发器 (3)</a:t>
            </a:r>
          </a:p>
        </p:txBody>
      </p:sp>
      <p:sp>
        <p:nvSpPr>
          <p:cNvPr id="19" name="TextBox 19"/>
          <p:cNvSpPr txBox="1"/>
          <p:nvPr/>
        </p:nvSpPr>
        <p:spPr>
          <a:xfrm>
            <a:off x="4565904" y="2013585"/>
            <a:ext cx="1344930" cy="234696"/>
          </a:xfrm>
          <a:prstGeom prst="rect">
            <a:avLst/>
          </a:prstGeom>
          <a:noFill/>
          <a:ln>
            <a:noFill/>
          </a:ln>
        </p:spPr>
        <p:txBody>
          <a:bodyPr wrap="none" lIns="0" tIns="0" rIns="0" bIns="0" anchor="t" anchorCtr="0">
            <a:spAutoFit/>
          </a:bodyPr>
          <a:lstStyle/>
          <a:p>
            <a:pPr algn="l"/>
            <a:r>
              <a:rPr lang="en-US" sz="1200" dirty="0">
                <a:solidFill>
                  <a:srgbClr val="00A8A8"/>
                </a:solidFill>
                <a:latin typeface="Consolas"/>
                <a:ea typeface="Consolas"/>
                <a:cs typeface="Consolas"/>
              </a:rPr>
              <a:t>trg_after_order</a:t>
            </a:r>
          </a:p>
        </p:txBody>
      </p:sp>
      <p:sp>
        <p:nvSpPr>
          <p:cNvPr id="20" name="TextBox 20"/>
          <p:cNvSpPr txBox="1"/>
          <p:nvPr/>
        </p:nvSpPr>
        <p:spPr>
          <a:xfrm>
            <a:off x="4565523" y="2224564"/>
            <a:ext cx="2510323" cy="249364"/>
          </a:xfrm>
          <a:prstGeom prst="rect">
            <a:avLst/>
          </a:prstGeom>
          <a:noFill/>
          <a:ln>
            <a:noFill/>
          </a:ln>
        </p:spPr>
        <p:txBody>
          <a:bodyPr wrap="none" lIns="0" tIns="0" rIns="0" bIns="0" anchor="t" anchorCtr="0">
            <a:spAutoFit/>
          </a:bodyPr>
          <a:lstStyle/>
          <a:p>
            <a:pPr algn="l"/>
            <a:r>
              <a:rPr lang="zh-CN" sz="1280" dirty="0">
                <a:solidFill>
                  <a:srgbClr val="636E72"/>
                </a:solidFill>
                <a:latin typeface="Segoe UI"/>
                <a:ea typeface="Microsoft YaHei"/>
                <a:cs typeface="Segoe UI"/>
              </a:rPr>
              <a:t>下单后自动分配站点+快递员取件</a:t>
            </a:r>
          </a:p>
        </p:txBody>
      </p:sp>
      <p:sp>
        <p:nvSpPr>
          <p:cNvPr id="21" name="TextBox 21"/>
          <p:cNvSpPr txBox="1"/>
          <p:nvPr/>
        </p:nvSpPr>
        <p:spPr>
          <a:xfrm>
            <a:off x="4565904" y="2518410"/>
            <a:ext cx="1344930" cy="234696"/>
          </a:xfrm>
          <a:prstGeom prst="rect">
            <a:avLst/>
          </a:prstGeom>
          <a:noFill/>
          <a:ln>
            <a:noFill/>
          </a:ln>
        </p:spPr>
        <p:txBody>
          <a:bodyPr wrap="none" lIns="0" tIns="0" rIns="0" bIns="0" anchor="t" anchorCtr="0">
            <a:spAutoFit/>
          </a:bodyPr>
          <a:lstStyle/>
          <a:p>
            <a:pPr algn="l"/>
            <a:r>
              <a:rPr lang="en-US" sz="1200" dirty="0">
                <a:solidFill>
                  <a:srgbClr val="00A8A8"/>
                </a:solidFill>
                <a:latin typeface="Consolas"/>
                <a:ea typeface="Consolas"/>
                <a:cs typeface="Consolas"/>
              </a:rPr>
              <a:t>trg_sync_status</a:t>
            </a:r>
          </a:p>
        </p:txBody>
      </p:sp>
      <p:sp>
        <p:nvSpPr>
          <p:cNvPr id="22" name="TextBox 22"/>
          <p:cNvSpPr txBox="1"/>
          <p:nvPr/>
        </p:nvSpPr>
        <p:spPr>
          <a:xfrm>
            <a:off x="4565523" y="2729389"/>
            <a:ext cx="1823761" cy="249364"/>
          </a:xfrm>
          <a:prstGeom prst="rect">
            <a:avLst/>
          </a:prstGeom>
          <a:noFill/>
          <a:ln>
            <a:noFill/>
          </a:ln>
        </p:spPr>
        <p:txBody>
          <a:bodyPr wrap="none" lIns="0" tIns="0" rIns="0" bIns="0" anchor="t" anchorCtr="0">
            <a:spAutoFit/>
          </a:bodyPr>
          <a:lstStyle/>
          <a:p>
            <a:pPr algn="l"/>
            <a:r>
              <a:rPr lang="zh-CN" sz="1280" dirty="0">
                <a:solidFill>
                  <a:srgbClr val="636E72"/>
                </a:solidFill>
                <a:latin typeface="Segoe UI"/>
                <a:ea typeface="Microsoft YaHei"/>
                <a:cs typeface="Segoe UI"/>
              </a:rPr>
              <a:t>中转→自动同步包裹状态</a:t>
            </a:r>
          </a:p>
        </p:txBody>
      </p:sp>
      <p:sp>
        <p:nvSpPr>
          <p:cNvPr id="23" name="TextBox 23"/>
          <p:cNvSpPr txBox="1"/>
          <p:nvPr/>
        </p:nvSpPr>
        <p:spPr>
          <a:xfrm>
            <a:off x="4565904" y="3023235"/>
            <a:ext cx="1215695" cy="234696"/>
          </a:xfrm>
          <a:prstGeom prst="rect">
            <a:avLst/>
          </a:prstGeom>
          <a:noFill/>
          <a:ln>
            <a:noFill/>
          </a:ln>
        </p:spPr>
        <p:txBody>
          <a:bodyPr wrap="none" lIns="0" tIns="0" rIns="0" bIns="0" anchor="t" anchorCtr="0">
            <a:spAutoFit/>
          </a:bodyPr>
          <a:lstStyle/>
          <a:p>
            <a:pPr algn="l"/>
            <a:r>
              <a:rPr lang="en-US" sz="1200" dirty="0">
                <a:solidFill>
                  <a:srgbClr val="00A8A8"/>
                </a:solidFill>
                <a:latin typeface="Consolas"/>
                <a:ea typeface="Consolas"/>
                <a:cs typeface="Consolas"/>
              </a:rPr>
              <a:t>trg_check_role</a:t>
            </a:r>
          </a:p>
        </p:txBody>
      </p:sp>
      <p:sp>
        <p:nvSpPr>
          <p:cNvPr id="24" name="TextBox 24"/>
          <p:cNvSpPr txBox="1"/>
          <p:nvPr/>
        </p:nvSpPr>
        <p:spPr>
          <a:xfrm>
            <a:off x="4565523" y="3234214"/>
            <a:ext cx="2415921" cy="249364"/>
          </a:xfrm>
          <a:prstGeom prst="rect">
            <a:avLst/>
          </a:prstGeom>
          <a:noFill/>
          <a:ln>
            <a:noFill/>
          </a:ln>
        </p:spPr>
        <p:txBody>
          <a:bodyPr wrap="none" lIns="0" tIns="0" rIns="0" bIns="0" anchor="t" anchorCtr="0">
            <a:spAutoFit/>
          </a:bodyPr>
          <a:lstStyle/>
          <a:p>
            <a:pPr algn="l"/>
            <a:r>
              <a:rPr lang="zh-CN" sz="1280" dirty="0">
                <a:solidFill>
                  <a:srgbClr val="636E72"/>
                </a:solidFill>
                <a:latin typeface="Segoe UI"/>
                <a:ea typeface="Microsoft YaHei"/>
                <a:cs typeface="Segoe UI"/>
              </a:rPr>
              <a:t>非快递员拦截，保证数据完整性</a:t>
            </a:r>
          </a:p>
        </p:txBody>
      </p:sp>
      <p:sp>
        <p:nvSpPr>
          <p:cNvPr id="25" name="Rectangle 25"/>
          <p:cNvSpPr/>
          <p:nvPr/>
        </p:nvSpPr>
        <p:spPr>
          <a:xfrm>
            <a:off x="8001000" y="1476375"/>
            <a:ext cx="3429000" cy="1905000"/>
          </a:xfrm>
          <a:prstGeom prst="roundRect">
            <a:avLst>
              <a:gd name="adj" fmla="val 2000"/>
            </a:avLst>
          </a:prstGeom>
          <a:solidFill>
            <a:srgbClr val="F5F7FA"/>
          </a:solidFill>
          <a:ln w="9525">
            <a:solidFill>
              <a:srgbClr val="DFE6E9"/>
            </a:solidFill>
          </a:ln>
        </p:spPr>
      </p:sp>
      <p:sp>
        <p:nvSpPr>
          <p:cNvPr id="26" name="Rectangle 26"/>
          <p:cNvSpPr/>
          <p:nvPr/>
        </p:nvSpPr>
        <p:spPr>
          <a:xfrm>
            <a:off x="8001000" y="1476375"/>
            <a:ext cx="3429000" cy="381000"/>
          </a:xfrm>
          <a:prstGeom prst="roundRect">
            <a:avLst>
              <a:gd name="adj" fmla="val 10000"/>
            </a:avLst>
          </a:prstGeom>
          <a:solidFill>
            <a:srgbClr val="1A3A5C"/>
          </a:solidFill>
          <a:ln>
            <a:noFill/>
          </a:ln>
        </p:spPr>
      </p:sp>
      <p:sp>
        <p:nvSpPr>
          <p:cNvPr id="27" name="TextBox 27"/>
          <p:cNvSpPr txBox="1"/>
          <p:nvPr/>
        </p:nvSpPr>
        <p:spPr>
          <a:xfrm>
            <a:off x="9246490" y="1545908"/>
            <a:ext cx="938019" cy="322707"/>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视图 (3)</a:t>
            </a:r>
          </a:p>
        </p:txBody>
      </p:sp>
      <p:sp>
        <p:nvSpPr>
          <p:cNvPr id="28" name="TextBox 28"/>
          <p:cNvSpPr txBox="1"/>
          <p:nvPr/>
        </p:nvSpPr>
        <p:spPr>
          <a:xfrm>
            <a:off x="8185404" y="2013585"/>
            <a:ext cx="1167232" cy="234696"/>
          </a:xfrm>
          <a:prstGeom prst="rect">
            <a:avLst/>
          </a:prstGeom>
          <a:noFill/>
          <a:ln>
            <a:noFill/>
          </a:ln>
        </p:spPr>
        <p:txBody>
          <a:bodyPr wrap="none" lIns="0" tIns="0" rIns="0" bIns="0" anchor="t" anchorCtr="0">
            <a:spAutoFit/>
          </a:bodyPr>
          <a:lstStyle/>
          <a:p>
            <a:pPr algn="l"/>
            <a:r>
              <a:rPr lang="en-US" sz="1200" dirty="0">
                <a:solidFill>
                  <a:srgbClr val="00A8A8"/>
                </a:solidFill>
                <a:latin typeface="Consolas"/>
                <a:ea typeface="Consolas"/>
                <a:cs typeface="Consolas"/>
              </a:rPr>
              <a:t>v_user_orders</a:t>
            </a:r>
          </a:p>
        </p:txBody>
      </p:sp>
      <p:sp>
        <p:nvSpPr>
          <p:cNvPr id="29" name="TextBox 29"/>
          <p:cNvSpPr txBox="1"/>
          <p:nvPr/>
        </p:nvSpPr>
        <p:spPr>
          <a:xfrm>
            <a:off x="8185023" y="2243614"/>
            <a:ext cx="1823761" cy="249364"/>
          </a:xfrm>
          <a:prstGeom prst="rect">
            <a:avLst/>
          </a:prstGeom>
          <a:noFill/>
          <a:ln>
            <a:noFill/>
          </a:ln>
        </p:spPr>
        <p:txBody>
          <a:bodyPr wrap="none" lIns="0" tIns="0" rIns="0" bIns="0" anchor="t" anchorCtr="0">
            <a:spAutoFit/>
          </a:bodyPr>
          <a:lstStyle/>
          <a:p>
            <a:pPr algn="l"/>
            <a:r>
              <a:rPr lang="zh-CN" sz="1280" dirty="0">
                <a:solidFill>
                  <a:srgbClr val="636E72"/>
                </a:solidFill>
                <a:latin typeface="Segoe UI"/>
                <a:ea typeface="Microsoft YaHei"/>
                <a:cs typeface="Segoe UI"/>
              </a:rPr>
              <a:t>用户订单+最新物流状态</a:t>
            </a:r>
          </a:p>
        </p:txBody>
      </p:sp>
      <p:sp>
        <p:nvSpPr>
          <p:cNvPr id="30" name="TextBox 30"/>
          <p:cNvSpPr txBox="1"/>
          <p:nvPr/>
        </p:nvSpPr>
        <p:spPr>
          <a:xfrm>
            <a:off x="8185404" y="2537460"/>
            <a:ext cx="1571092" cy="234696"/>
          </a:xfrm>
          <a:prstGeom prst="rect">
            <a:avLst/>
          </a:prstGeom>
          <a:noFill/>
          <a:ln>
            <a:noFill/>
          </a:ln>
        </p:spPr>
        <p:txBody>
          <a:bodyPr wrap="none" lIns="0" tIns="0" rIns="0" bIns="0" anchor="t" anchorCtr="0">
            <a:spAutoFit/>
          </a:bodyPr>
          <a:lstStyle/>
          <a:p>
            <a:pPr algn="l"/>
            <a:r>
              <a:rPr lang="en-US" sz="1200" dirty="0">
                <a:solidFill>
                  <a:srgbClr val="00A8A8"/>
                </a:solidFill>
                <a:latin typeface="Consolas"/>
                <a:ea typeface="Consolas"/>
                <a:cs typeface="Consolas"/>
              </a:rPr>
              <a:t>v_station_packages</a:t>
            </a:r>
          </a:p>
        </p:txBody>
      </p:sp>
      <p:sp>
        <p:nvSpPr>
          <p:cNvPr id="31" name="TextBox 31"/>
          <p:cNvSpPr txBox="1"/>
          <p:nvPr/>
        </p:nvSpPr>
        <p:spPr>
          <a:xfrm>
            <a:off x="8185023" y="2767489"/>
            <a:ext cx="1386078" cy="249364"/>
          </a:xfrm>
          <a:prstGeom prst="rect">
            <a:avLst/>
          </a:prstGeom>
          <a:noFill/>
          <a:ln>
            <a:noFill/>
          </a:ln>
        </p:spPr>
        <p:txBody>
          <a:bodyPr wrap="none" lIns="0" tIns="0" rIns="0" bIns="0" anchor="t" anchorCtr="0">
            <a:spAutoFit/>
          </a:bodyPr>
          <a:lstStyle/>
          <a:p>
            <a:pPr algn="l"/>
            <a:r>
              <a:rPr lang="zh-CN" sz="1280" dirty="0">
                <a:solidFill>
                  <a:srgbClr val="636E72"/>
                </a:solidFill>
                <a:latin typeface="Segoe UI"/>
                <a:ea typeface="Microsoft YaHei"/>
                <a:cs typeface="Segoe UI"/>
              </a:rPr>
              <a:t>站点当前包裹列表</a:t>
            </a:r>
          </a:p>
        </p:txBody>
      </p:sp>
      <p:sp>
        <p:nvSpPr>
          <p:cNvPr id="32" name="TextBox 32"/>
          <p:cNvSpPr txBox="1"/>
          <p:nvPr/>
        </p:nvSpPr>
        <p:spPr>
          <a:xfrm>
            <a:off x="8185404" y="3061335"/>
            <a:ext cx="1401470" cy="234696"/>
          </a:xfrm>
          <a:prstGeom prst="rect">
            <a:avLst/>
          </a:prstGeom>
          <a:noFill/>
          <a:ln>
            <a:noFill/>
          </a:ln>
        </p:spPr>
        <p:txBody>
          <a:bodyPr wrap="none" lIns="0" tIns="0" rIns="0" bIns="0" anchor="t" anchorCtr="0">
            <a:spAutoFit/>
          </a:bodyPr>
          <a:lstStyle/>
          <a:p>
            <a:pPr algn="l"/>
            <a:r>
              <a:rPr lang="en-US" sz="1200" dirty="0">
                <a:solidFill>
                  <a:srgbClr val="00A8A8"/>
                </a:solidFill>
                <a:latin typeface="Consolas"/>
                <a:ea typeface="Consolas"/>
                <a:cs typeface="Consolas"/>
              </a:rPr>
              <a:t>v_tracking_detail</a:t>
            </a:r>
          </a:p>
        </p:txBody>
      </p:sp>
      <p:sp>
        <p:nvSpPr>
          <p:cNvPr id="33" name="TextBox 33"/>
          <p:cNvSpPr txBox="1"/>
          <p:nvPr/>
        </p:nvSpPr>
        <p:spPr>
          <a:xfrm>
            <a:off x="8185023" y="3272314"/>
            <a:ext cx="1042797" cy="249364"/>
          </a:xfrm>
          <a:prstGeom prst="rect">
            <a:avLst/>
          </a:prstGeom>
          <a:noFill/>
          <a:ln>
            <a:noFill/>
          </a:ln>
        </p:spPr>
        <p:txBody>
          <a:bodyPr wrap="none" lIns="0" tIns="0" rIns="0" bIns="0" anchor="t" anchorCtr="0">
            <a:spAutoFit/>
          </a:bodyPr>
          <a:lstStyle/>
          <a:p>
            <a:pPr algn="l"/>
            <a:r>
              <a:rPr lang="zh-CN" sz="1280" dirty="0">
                <a:solidFill>
                  <a:srgbClr val="636E72"/>
                </a:solidFill>
                <a:latin typeface="Segoe UI"/>
                <a:ea typeface="Microsoft YaHei"/>
                <a:cs typeface="Segoe UI"/>
              </a:rPr>
              <a:t>完整物流轨迹</a:t>
            </a:r>
          </a:p>
        </p:txBody>
      </p:sp>
      <p:sp>
        <p:nvSpPr>
          <p:cNvPr id="34" name="Rectangle 34"/>
          <p:cNvSpPr/>
          <p:nvPr/>
        </p:nvSpPr>
        <p:spPr>
          <a:xfrm>
            <a:off x="762000" y="3714750"/>
            <a:ext cx="10668000" cy="1714500"/>
          </a:xfrm>
          <a:prstGeom prst="roundRect">
            <a:avLst>
              <a:gd name="adj" fmla="val 2222"/>
            </a:avLst>
          </a:prstGeom>
          <a:solidFill>
            <a:srgbClr val="F5F7FA"/>
          </a:solidFill>
          <a:ln w="9525">
            <a:solidFill>
              <a:srgbClr val="DFE6E9"/>
            </a:solidFill>
          </a:ln>
        </p:spPr>
      </p:sp>
      <p:sp>
        <p:nvSpPr>
          <p:cNvPr id="35" name="TextBox 35"/>
          <p:cNvSpPr txBox="1"/>
          <p:nvPr/>
        </p:nvSpPr>
        <p:spPr>
          <a:xfrm>
            <a:off x="5491658" y="3821430"/>
            <a:ext cx="1208684" cy="410718"/>
          </a:xfrm>
          <a:prstGeom prst="rect">
            <a:avLst/>
          </a:prstGeom>
          <a:noFill/>
          <a:ln>
            <a:noFill/>
          </a:ln>
        </p:spPr>
        <p:txBody>
          <a:bodyPr wrap="none" lIns="0" tIns="0" rIns="0" bIns="0" anchor="t" anchorCtr="0">
            <a:spAutoFit/>
          </a:bodyPr>
          <a:lstStyle/>
          <a:p>
            <a:pPr algn="ctr"/>
            <a:r>
              <a:rPr lang="zh-CN" sz="2100" b="1" dirty="0">
                <a:solidFill>
                  <a:srgbClr val="1A3A5C"/>
                </a:solidFill>
                <a:latin typeface="Segoe UI"/>
                <a:ea typeface="Microsoft YaHei"/>
                <a:cs typeface="Segoe UI"/>
              </a:rPr>
              <a:t>设计特点</a:t>
            </a:r>
          </a:p>
        </p:txBody>
      </p:sp>
      <p:sp>
        <p:nvSpPr>
          <p:cNvPr id="36" name="TextBox 36"/>
          <p:cNvSpPr txBox="1"/>
          <p:nvPr/>
        </p:nvSpPr>
        <p:spPr>
          <a:xfrm>
            <a:off x="1134618" y="4298632"/>
            <a:ext cx="6425013"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 存储过程封装核心业务（注册、下单、中转），保证操作原子性</a:t>
            </a:r>
          </a:p>
        </p:txBody>
      </p:sp>
      <p:sp>
        <p:nvSpPr>
          <p:cNvPr id="37" name="TextBox 37"/>
          <p:cNvSpPr txBox="1"/>
          <p:nvPr/>
        </p:nvSpPr>
        <p:spPr>
          <a:xfrm>
            <a:off x="1134618" y="4632008"/>
            <a:ext cx="8668455"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 触发器自动执行业务逻辑（下单→取件、中转→状态同步、角色校验），减少应用层代码</a:t>
            </a:r>
          </a:p>
        </p:txBody>
      </p:sp>
      <p:sp>
        <p:nvSpPr>
          <p:cNvPr id="38" name="TextBox 38"/>
          <p:cNvSpPr txBox="1"/>
          <p:nvPr/>
        </p:nvSpPr>
        <p:spPr>
          <a:xfrm>
            <a:off x="1134618" y="4965382"/>
            <a:ext cx="9040825"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 视图封装复杂查询（LATERAL JOIN 取最新记录、多表连接物流轨迹），简化数据访问</a:t>
            </a:r>
          </a:p>
        </p:txBody>
      </p:sp>
      <p:sp>
        <p:nvSpPr>
          <p:cNvPr id="39" name="Rectangle 39"/>
          <p:cNvSpPr/>
          <p:nvPr/>
        </p:nvSpPr>
        <p:spPr>
          <a:xfrm>
            <a:off x="762000" y="6191250"/>
            <a:ext cx="10668000" cy="9525"/>
          </a:xfrm>
          <a:prstGeom prst="rect">
            <a:avLst/>
          </a:prstGeom>
          <a:solidFill>
            <a:srgbClr val="DFE6E9"/>
          </a:solidFill>
          <a:ln>
            <a:noFill/>
          </a:ln>
        </p:spPr>
      </p:sp>
      <p:sp>
        <p:nvSpPr>
          <p:cNvPr id="40" name="TextBox 40"/>
          <p:cNvSpPr txBox="1"/>
          <p:nvPr/>
        </p:nvSpPr>
        <p:spPr>
          <a:xfrm>
            <a:off x="10914278" y="6331268"/>
            <a:ext cx="522580" cy="264033"/>
          </a:xfrm>
          <a:prstGeom prst="rect">
            <a:avLst/>
          </a:prstGeom>
          <a:noFill/>
          <a:ln>
            <a:noFill/>
          </a:ln>
        </p:spPr>
        <p:txBody>
          <a:bodyPr wrap="none" lIns="0" tIns="0" rIns="0" bIns="0" anchor="t" anchorCtr="0">
            <a:spAutoFit/>
          </a:bodyPr>
          <a:lstStyle/>
          <a:p>
            <a:pPr algn="r"/>
            <a:r>
              <a:rPr lang="en-US" sz="1350" dirty="0">
                <a:solidFill>
                  <a:srgbClr val="B2BEC3"/>
                </a:solidFill>
                <a:latin typeface="Segoe UI"/>
                <a:ea typeface="Segoe UI"/>
                <a:cs typeface="Segoe UI"/>
              </a:rPr>
              <a:t>8 / 11</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1A3A5C"/>
          </a:solidFill>
          <a:ln>
            <a:noFill/>
          </a:ln>
        </p:spPr>
      </p:sp>
      <p:sp>
        <p:nvSpPr>
          <p:cNvPr id="4" name="TextBox 4"/>
          <p:cNvSpPr txBox="1"/>
          <p:nvPr/>
        </p:nvSpPr>
        <p:spPr>
          <a:xfrm>
            <a:off x="743712" y="297180"/>
            <a:ext cx="3531413" cy="704088"/>
          </a:xfrm>
          <a:prstGeom prst="rect">
            <a:avLst/>
          </a:prstGeom>
          <a:noFill/>
          <a:ln>
            <a:noFill/>
          </a:ln>
        </p:spPr>
        <p:txBody>
          <a:bodyPr wrap="none" lIns="0" tIns="0" rIns="0" bIns="0" anchor="t" anchorCtr="0">
            <a:spAutoFit/>
          </a:bodyPr>
          <a:lstStyle/>
          <a:p>
            <a:pPr algn="l"/>
            <a:r>
              <a:rPr lang="zh-CN" sz="3600" b="1" dirty="0">
                <a:solidFill>
                  <a:srgbClr val="1A3A5C"/>
                </a:solidFill>
                <a:latin typeface="Segoe UI"/>
                <a:ea typeface="Microsoft YaHei"/>
                <a:cs typeface="Segoe UI"/>
              </a:rPr>
              <a:t>CRUD 操作演示</a:t>
            </a:r>
          </a:p>
        </p:txBody>
      </p:sp>
      <p:sp>
        <p:nvSpPr>
          <p:cNvPr id="5" name="Line 5"/>
          <p:cNvSpPr/>
          <p:nvPr/>
        </p:nvSpPr>
        <p:spPr>
          <a:xfrm>
            <a:off x="762000" y="857250"/>
            <a:ext cx="1905000" cy="9525"/>
          </a:xfrm>
          <a:custGeom>
            <a:avLst/>
            <a:gdLst/>
            <a:ahLst/>
            <a:cxnLst/>
            <a:rect l="l" t="t" r="r" b="b"/>
            <a:pathLst>
              <a:path w="1905000" h="9525">
                <a:moveTo>
                  <a:pt x="0" y="0"/>
                </a:moveTo>
                <a:lnTo>
                  <a:pt x="1905000" y="0"/>
                </a:lnTo>
              </a:path>
            </a:pathLst>
          </a:custGeom>
          <a:noFill/>
          <a:ln w="28575">
            <a:solidFill>
              <a:srgbClr val="00A8A8"/>
            </a:solidFill>
          </a:ln>
        </p:spPr>
      </p:sp>
      <p:sp>
        <p:nvSpPr>
          <p:cNvPr id="6" name="Rectangle 6"/>
          <p:cNvSpPr/>
          <p:nvPr/>
        </p:nvSpPr>
        <p:spPr>
          <a:xfrm>
            <a:off x="571500" y="1143000"/>
            <a:ext cx="2571750" cy="2476500"/>
          </a:xfrm>
          <a:prstGeom prst="roundRect">
            <a:avLst>
              <a:gd name="adj" fmla="val 1538"/>
            </a:avLst>
          </a:prstGeom>
          <a:solidFill>
            <a:srgbClr val="F5F7FA"/>
          </a:solidFill>
          <a:ln w="9525">
            <a:solidFill>
              <a:srgbClr val="DFE6E9"/>
            </a:solidFill>
          </a:ln>
        </p:spPr>
      </p:sp>
      <p:sp>
        <p:nvSpPr>
          <p:cNvPr id="7" name="Rectangle 7"/>
          <p:cNvSpPr/>
          <p:nvPr/>
        </p:nvSpPr>
        <p:spPr>
          <a:xfrm>
            <a:off x="571500" y="1143000"/>
            <a:ext cx="2571750" cy="428625"/>
          </a:xfrm>
          <a:prstGeom prst="roundRect">
            <a:avLst>
              <a:gd name="adj" fmla="val 8889"/>
            </a:avLst>
          </a:prstGeom>
          <a:solidFill>
            <a:srgbClr val="1A3A5C"/>
          </a:solidFill>
          <a:ln>
            <a:noFill/>
          </a:ln>
        </p:spPr>
      </p:sp>
      <p:sp>
        <p:nvSpPr>
          <p:cNvPr id="8" name="TextBox 8"/>
          <p:cNvSpPr txBox="1"/>
          <p:nvPr/>
        </p:nvSpPr>
        <p:spPr>
          <a:xfrm>
            <a:off x="1290401" y="1224915"/>
            <a:ext cx="1133947"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Segoe UI"/>
                <a:ea typeface="Segoe UI"/>
                <a:cs typeface="Segoe UI"/>
              </a:rPr>
              <a:t>🔍 SELECT</a:t>
            </a:r>
          </a:p>
        </p:txBody>
      </p:sp>
      <p:sp>
        <p:nvSpPr>
          <p:cNvPr id="9" name="TextBox 9"/>
          <p:cNvSpPr txBox="1"/>
          <p:nvPr/>
        </p:nvSpPr>
        <p:spPr>
          <a:xfrm>
            <a:off x="755904" y="1727835"/>
            <a:ext cx="1401470" cy="234696"/>
          </a:xfrm>
          <a:prstGeom prst="rect">
            <a:avLst/>
          </a:prstGeom>
          <a:noFill/>
          <a:ln>
            <a:noFill/>
          </a:ln>
        </p:spPr>
        <p:txBody>
          <a:bodyPr wrap="none" lIns="0" tIns="0" rIns="0" bIns="0" anchor="t" anchorCtr="0">
            <a:spAutoFit/>
          </a:bodyPr>
          <a:lstStyle/>
          <a:p>
            <a:pPr algn="l"/>
            <a:r>
              <a:rPr lang="en-US" sz="1200" dirty="0">
                <a:solidFill>
                  <a:srgbClr val="1E1E2E"/>
                </a:solidFill>
                <a:latin typeface="Consolas"/>
                <a:ea typeface="Consolas"/>
                <a:cs typeface="Consolas"/>
              </a:rPr>
              <a:t>v_tracking_detail</a:t>
            </a:r>
          </a:p>
        </p:txBody>
      </p:sp>
      <p:sp>
        <p:nvSpPr>
          <p:cNvPr id="10" name="TextBox 10"/>
          <p:cNvSpPr txBox="1"/>
          <p:nvPr/>
        </p:nvSpPr>
        <p:spPr>
          <a:xfrm>
            <a:off x="754380" y="1981200"/>
            <a:ext cx="1428750"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运单号查询完整</a:t>
            </a:r>
          </a:p>
        </p:txBody>
      </p:sp>
      <p:sp>
        <p:nvSpPr>
          <p:cNvPr id="11" name="TextBox 11"/>
          <p:cNvSpPr txBox="1"/>
          <p:nvPr/>
        </p:nvSpPr>
        <p:spPr>
          <a:xfrm>
            <a:off x="754380" y="2238375"/>
            <a:ext cx="1539812"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物流轨迹（4站）</a:t>
            </a:r>
          </a:p>
        </p:txBody>
      </p:sp>
      <p:sp>
        <p:nvSpPr>
          <p:cNvPr id="12" name="TextBox 12"/>
          <p:cNvSpPr txBox="1"/>
          <p:nvPr/>
        </p:nvSpPr>
        <p:spPr>
          <a:xfrm>
            <a:off x="755142" y="2616518"/>
            <a:ext cx="1031443" cy="264033"/>
          </a:xfrm>
          <a:prstGeom prst="rect">
            <a:avLst/>
          </a:prstGeom>
          <a:noFill/>
          <a:ln>
            <a:noFill/>
          </a:ln>
        </p:spPr>
        <p:txBody>
          <a:bodyPr wrap="none" lIns="0" tIns="0" rIns="0" bIns="0" anchor="t" anchorCtr="0">
            <a:spAutoFit/>
          </a:bodyPr>
          <a:lstStyle/>
          <a:p>
            <a:pPr algn="l"/>
            <a:r>
              <a:rPr lang="zh-CN" sz="1350" dirty="0">
                <a:solidFill>
                  <a:srgbClr val="B2BEC3"/>
                </a:solidFill>
                <a:latin typeface="Segoe UI"/>
                <a:ea typeface="Microsoft YaHei"/>
                <a:cs typeface="Segoe UI"/>
              </a:rPr>
              <a:t>多表 JOIN +</a:t>
            </a:r>
          </a:p>
        </p:txBody>
      </p:sp>
      <p:sp>
        <p:nvSpPr>
          <p:cNvPr id="13" name="TextBox 13"/>
          <p:cNvSpPr txBox="1"/>
          <p:nvPr/>
        </p:nvSpPr>
        <p:spPr>
          <a:xfrm>
            <a:off x="755142" y="2854642"/>
            <a:ext cx="1770736" cy="264033"/>
          </a:xfrm>
          <a:prstGeom prst="rect">
            <a:avLst/>
          </a:prstGeom>
          <a:noFill/>
          <a:ln>
            <a:noFill/>
          </a:ln>
        </p:spPr>
        <p:txBody>
          <a:bodyPr wrap="none" lIns="0" tIns="0" rIns="0" bIns="0" anchor="t" anchorCtr="0">
            <a:spAutoFit/>
          </a:bodyPr>
          <a:lstStyle/>
          <a:p>
            <a:pPr algn="l"/>
            <a:r>
              <a:rPr lang="zh-CN" sz="1350" dirty="0">
                <a:solidFill>
                  <a:srgbClr val="B2BEC3"/>
                </a:solidFill>
                <a:latin typeface="Segoe UI"/>
                <a:ea typeface="Microsoft YaHei"/>
                <a:cs typeface="Segoe UI"/>
              </a:rPr>
              <a:t>LATERAL 取最新记录</a:t>
            </a:r>
          </a:p>
        </p:txBody>
      </p:sp>
      <p:sp>
        <p:nvSpPr>
          <p:cNvPr id="14" name="Rectangle 14"/>
          <p:cNvSpPr/>
          <p:nvPr/>
        </p:nvSpPr>
        <p:spPr>
          <a:xfrm>
            <a:off x="3333750" y="1143000"/>
            <a:ext cx="2571750" cy="2476500"/>
          </a:xfrm>
          <a:prstGeom prst="roundRect">
            <a:avLst>
              <a:gd name="adj" fmla="val 1538"/>
            </a:avLst>
          </a:prstGeom>
          <a:solidFill>
            <a:srgbClr val="F5F7FA"/>
          </a:solidFill>
          <a:ln w="9525">
            <a:solidFill>
              <a:srgbClr val="DFE6E9"/>
            </a:solidFill>
          </a:ln>
        </p:spPr>
      </p:sp>
      <p:sp>
        <p:nvSpPr>
          <p:cNvPr id="15" name="Rectangle 15"/>
          <p:cNvSpPr/>
          <p:nvPr/>
        </p:nvSpPr>
        <p:spPr>
          <a:xfrm>
            <a:off x="3333750" y="1143000"/>
            <a:ext cx="2571750" cy="428625"/>
          </a:xfrm>
          <a:prstGeom prst="roundRect">
            <a:avLst>
              <a:gd name="adj" fmla="val 8889"/>
            </a:avLst>
          </a:prstGeom>
          <a:solidFill>
            <a:srgbClr val="00A8A8"/>
          </a:solidFill>
          <a:ln>
            <a:noFill/>
          </a:ln>
        </p:spPr>
      </p:sp>
      <p:sp>
        <p:nvSpPr>
          <p:cNvPr id="16" name="TextBox 16"/>
          <p:cNvSpPr txBox="1"/>
          <p:nvPr/>
        </p:nvSpPr>
        <p:spPr>
          <a:xfrm>
            <a:off x="4086255" y="1224915"/>
            <a:ext cx="1066739"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Segoe UI"/>
                <a:ea typeface="Segoe UI"/>
                <a:cs typeface="Segoe UI"/>
              </a:rPr>
              <a:t>📦 INSERT</a:t>
            </a:r>
          </a:p>
        </p:txBody>
      </p:sp>
      <p:sp>
        <p:nvSpPr>
          <p:cNvPr id="17" name="TextBox 17"/>
          <p:cNvSpPr txBox="1"/>
          <p:nvPr/>
        </p:nvSpPr>
        <p:spPr>
          <a:xfrm>
            <a:off x="3518154" y="1727835"/>
            <a:ext cx="1393393" cy="234696"/>
          </a:xfrm>
          <a:prstGeom prst="rect">
            <a:avLst/>
          </a:prstGeom>
          <a:noFill/>
          <a:ln>
            <a:noFill/>
          </a:ln>
        </p:spPr>
        <p:txBody>
          <a:bodyPr wrap="none" lIns="0" tIns="0" rIns="0" bIns="0" anchor="t" anchorCtr="0">
            <a:spAutoFit/>
          </a:bodyPr>
          <a:lstStyle/>
          <a:p>
            <a:pPr algn="l"/>
            <a:r>
              <a:rPr lang="en-US" sz="1200" dirty="0">
                <a:solidFill>
                  <a:srgbClr val="1E1E2E"/>
                </a:solidFill>
                <a:latin typeface="Consolas"/>
                <a:ea typeface="Consolas"/>
                <a:cs typeface="Consolas"/>
              </a:rPr>
              <a:t>sp_place_order()</a:t>
            </a:r>
          </a:p>
        </p:txBody>
      </p:sp>
      <p:sp>
        <p:nvSpPr>
          <p:cNvPr id="18" name="TextBox 18"/>
          <p:cNvSpPr txBox="1"/>
          <p:nvPr/>
        </p:nvSpPr>
        <p:spPr>
          <a:xfrm>
            <a:off x="3516630" y="1981200"/>
            <a:ext cx="1024890"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下单新包裹</a:t>
            </a:r>
          </a:p>
        </p:txBody>
      </p:sp>
      <p:sp>
        <p:nvSpPr>
          <p:cNvPr id="19" name="TextBox 19"/>
          <p:cNvSpPr txBox="1"/>
          <p:nvPr/>
        </p:nvSpPr>
        <p:spPr>
          <a:xfrm>
            <a:off x="3516630" y="2238375"/>
            <a:ext cx="1428750"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触发器自动生成</a:t>
            </a:r>
          </a:p>
        </p:txBody>
      </p:sp>
      <p:sp>
        <p:nvSpPr>
          <p:cNvPr id="20" name="TextBox 20"/>
          <p:cNvSpPr txBox="1"/>
          <p:nvPr/>
        </p:nvSpPr>
        <p:spPr>
          <a:xfrm>
            <a:off x="3517392" y="2616518"/>
            <a:ext cx="740664" cy="264033"/>
          </a:xfrm>
          <a:prstGeom prst="rect">
            <a:avLst/>
          </a:prstGeom>
          <a:noFill/>
          <a:ln>
            <a:noFill/>
          </a:ln>
        </p:spPr>
        <p:txBody>
          <a:bodyPr wrap="none" lIns="0" tIns="0" rIns="0" bIns="0" anchor="t" anchorCtr="0">
            <a:spAutoFit/>
          </a:bodyPr>
          <a:lstStyle/>
          <a:p>
            <a:pPr algn="l"/>
            <a:r>
              <a:rPr lang="zh-CN" sz="1350" dirty="0">
                <a:solidFill>
                  <a:srgbClr val="B2BEC3"/>
                </a:solidFill>
                <a:latin typeface="Segoe UI"/>
                <a:ea typeface="Microsoft YaHei"/>
                <a:cs typeface="Segoe UI"/>
              </a:rPr>
              <a:t>取件记录</a:t>
            </a:r>
          </a:p>
        </p:txBody>
      </p:sp>
      <p:sp>
        <p:nvSpPr>
          <p:cNvPr id="21" name="TextBox 21"/>
          <p:cNvSpPr txBox="1"/>
          <p:nvPr/>
        </p:nvSpPr>
        <p:spPr>
          <a:xfrm>
            <a:off x="3517392" y="2854642"/>
            <a:ext cx="1385830" cy="264033"/>
          </a:xfrm>
          <a:prstGeom prst="rect">
            <a:avLst/>
          </a:prstGeom>
          <a:noFill/>
          <a:ln>
            <a:noFill/>
          </a:ln>
        </p:spPr>
        <p:txBody>
          <a:bodyPr wrap="none" lIns="0" tIns="0" rIns="0" bIns="0" anchor="t" anchorCtr="0">
            <a:spAutoFit/>
          </a:bodyPr>
          <a:lstStyle/>
          <a:p>
            <a:pPr algn="l"/>
            <a:r>
              <a:rPr lang="zh-CN" sz="1350" dirty="0">
                <a:solidFill>
                  <a:srgbClr val="B2BEC3"/>
                </a:solidFill>
                <a:latin typeface="Segoe UI"/>
                <a:ea typeface="Microsoft YaHei"/>
                <a:cs typeface="Segoe UI"/>
              </a:rPr>
              <a:t>（站点+快递员）</a:t>
            </a:r>
          </a:p>
        </p:txBody>
      </p:sp>
      <p:sp>
        <p:nvSpPr>
          <p:cNvPr id="22" name="Rectangle 22"/>
          <p:cNvSpPr/>
          <p:nvPr/>
        </p:nvSpPr>
        <p:spPr>
          <a:xfrm>
            <a:off x="6096000" y="1143000"/>
            <a:ext cx="2571750" cy="2476500"/>
          </a:xfrm>
          <a:prstGeom prst="roundRect">
            <a:avLst>
              <a:gd name="adj" fmla="val 1538"/>
            </a:avLst>
          </a:prstGeom>
          <a:solidFill>
            <a:srgbClr val="F5F7FA"/>
          </a:solidFill>
          <a:ln w="9525">
            <a:solidFill>
              <a:srgbClr val="DFE6E9"/>
            </a:solidFill>
          </a:ln>
        </p:spPr>
      </p:sp>
      <p:sp>
        <p:nvSpPr>
          <p:cNvPr id="23" name="Rectangle 23"/>
          <p:cNvSpPr/>
          <p:nvPr/>
        </p:nvSpPr>
        <p:spPr>
          <a:xfrm>
            <a:off x="6096000" y="1143000"/>
            <a:ext cx="2571750" cy="428625"/>
          </a:xfrm>
          <a:prstGeom prst="roundRect">
            <a:avLst>
              <a:gd name="adj" fmla="val 8889"/>
            </a:avLst>
          </a:prstGeom>
          <a:solidFill>
            <a:srgbClr val="0D7377"/>
          </a:solidFill>
          <a:ln>
            <a:noFill/>
          </a:ln>
        </p:spPr>
      </p:sp>
      <p:sp>
        <p:nvSpPr>
          <p:cNvPr id="24" name="TextBox 24"/>
          <p:cNvSpPr txBox="1"/>
          <p:nvPr/>
        </p:nvSpPr>
        <p:spPr>
          <a:xfrm>
            <a:off x="6814901" y="1224915"/>
            <a:ext cx="1133947"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Segoe UI"/>
                <a:ea typeface="Segoe UI"/>
                <a:cs typeface="Segoe UI"/>
              </a:rPr>
              <a:t>🚚 UPDATE</a:t>
            </a:r>
          </a:p>
        </p:txBody>
      </p:sp>
      <p:sp>
        <p:nvSpPr>
          <p:cNvPr id="25" name="TextBox 25"/>
          <p:cNvSpPr txBox="1"/>
          <p:nvPr/>
        </p:nvSpPr>
        <p:spPr>
          <a:xfrm>
            <a:off x="6280404" y="1727835"/>
            <a:ext cx="1659941" cy="234696"/>
          </a:xfrm>
          <a:prstGeom prst="rect">
            <a:avLst/>
          </a:prstGeom>
          <a:noFill/>
          <a:ln>
            <a:noFill/>
          </a:ln>
        </p:spPr>
        <p:txBody>
          <a:bodyPr wrap="none" lIns="0" tIns="0" rIns="0" bIns="0" anchor="t" anchorCtr="0">
            <a:spAutoFit/>
          </a:bodyPr>
          <a:lstStyle/>
          <a:p>
            <a:pPr algn="l"/>
            <a:r>
              <a:rPr lang="en-US" sz="1200" dirty="0">
                <a:solidFill>
                  <a:srgbClr val="1E1E2E"/>
                </a:solidFill>
                <a:latin typeface="Consolas"/>
                <a:ea typeface="Consolas"/>
                <a:cs typeface="Consolas"/>
              </a:rPr>
              <a:t>sp_update_transit()</a:t>
            </a:r>
          </a:p>
        </p:txBody>
      </p:sp>
      <p:sp>
        <p:nvSpPr>
          <p:cNvPr id="26" name="TextBox 26"/>
          <p:cNvSpPr txBox="1"/>
          <p:nvPr/>
        </p:nvSpPr>
        <p:spPr>
          <a:xfrm>
            <a:off x="6278880" y="1981200"/>
            <a:ext cx="822960"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记录中转</a:t>
            </a:r>
          </a:p>
        </p:txBody>
      </p:sp>
      <p:sp>
        <p:nvSpPr>
          <p:cNvPr id="27" name="TextBox 27"/>
          <p:cNvSpPr txBox="1"/>
          <p:nvPr/>
        </p:nvSpPr>
        <p:spPr>
          <a:xfrm>
            <a:off x="6278880" y="2238375"/>
            <a:ext cx="1539812"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状态同步→运输中</a:t>
            </a:r>
          </a:p>
        </p:txBody>
      </p:sp>
      <p:sp>
        <p:nvSpPr>
          <p:cNvPr id="28" name="TextBox 28"/>
          <p:cNvSpPr txBox="1"/>
          <p:nvPr/>
        </p:nvSpPr>
        <p:spPr>
          <a:xfrm>
            <a:off x="6279642" y="2616518"/>
            <a:ext cx="1303191" cy="264033"/>
          </a:xfrm>
          <a:prstGeom prst="rect">
            <a:avLst/>
          </a:prstGeom>
          <a:noFill/>
          <a:ln>
            <a:noFill/>
          </a:ln>
        </p:spPr>
        <p:txBody>
          <a:bodyPr wrap="none" lIns="0" tIns="0" rIns="0" bIns="0" anchor="t" anchorCtr="0">
            <a:spAutoFit/>
          </a:bodyPr>
          <a:lstStyle/>
          <a:p>
            <a:pPr algn="l"/>
            <a:r>
              <a:rPr lang="en-US" sz="1350" dirty="0">
                <a:solidFill>
                  <a:srgbClr val="B2BEC3"/>
                </a:solidFill>
                <a:latin typeface="Segoe UI"/>
                <a:ea typeface="Segoe UI"/>
                <a:cs typeface="Segoe UI"/>
              </a:rPr>
              <a:t>UPDATE status</a:t>
            </a:r>
          </a:p>
        </p:txBody>
      </p:sp>
      <p:sp>
        <p:nvSpPr>
          <p:cNvPr id="29" name="TextBox 29"/>
          <p:cNvSpPr txBox="1"/>
          <p:nvPr/>
        </p:nvSpPr>
        <p:spPr>
          <a:xfrm>
            <a:off x="6279642" y="2854642"/>
            <a:ext cx="713403" cy="264033"/>
          </a:xfrm>
          <a:prstGeom prst="rect">
            <a:avLst/>
          </a:prstGeom>
          <a:noFill/>
          <a:ln>
            <a:noFill/>
          </a:ln>
        </p:spPr>
        <p:txBody>
          <a:bodyPr wrap="none" lIns="0" tIns="0" rIns="0" bIns="0" anchor="t" anchorCtr="0">
            <a:spAutoFit/>
          </a:bodyPr>
          <a:lstStyle/>
          <a:p>
            <a:pPr algn="l"/>
            <a:r>
              <a:rPr lang="zh-CN" sz="1350" dirty="0">
                <a:solidFill>
                  <a:srgbClr val="B2BEC3"/>
                </a:solidFill>
                <a:latin typeface="Segoe UI"/>
                <a:ea typeface="Microsoft YaHei"/>
                <a:cs typeface="Segoe UI"/>
              </a:rPr>
              <a:t>→ 已签收</a:t>
            </a:r>
          </a:p>
        </p:txBody>
      </p:sp>
      <p:sp>
        <p:nvSpPr>
          <p:cNvPr id="30" name="Rectangle 30"/>
          <p:cNvSpPr/>
          <p:nvPr/>
        </p:nvSpPr>
        <p:spPr>
          <a:xfrm>
            <a:off x="8858250" y="1143000"/>
            <a:ext cx="2571750" cy="2476500"/>
          </a:xfrm>
          <a:prstGeom prst="roundRect">
            <a:avLst>
              <a:gd name="adj" fmla="val 1538"/>
            </a:avLst>
          </a:prstGeom>
          <a:solidFill>
            <a:srgbClr val="F5F7FA"/>
          </a:solidFill>
          <a:ln w="9525">
            <a:solidFill>
              <a:srgbClr val="DFE6E9"/>
            </a:solidFill>
          </a:ln>
        </p:spPr>
      </p:sp>
      <p:sp>
        <p:nvSpPr>
          <p:cNvPr id="31" name="Rectangle 31"/>
          <p:cNvSpPr/>
          <p:nvPr/>
        </p:nvSpPr>
        <p:spPr>
          <a:xfrm>
            <a:off x="8858250" y="1143000"/>
            <a:ext cx="2571750" cy="428625"/>
          </a:xfrm>
          <a:prstGeom prst="roundRect">
            <a:avLst>
              <a:gd name="adj" fmla="val 8889"/>
            </a:avLst>
          </a:prstGeom>
          <a:solidFill>
            <a:srgbClr val="1A3A5C"/>
          </a:solidFill>
          <a:ln>
            <a:noFill/>
          </a:ln>
        </p:spPr>
      </p:sp>
      <p:sp>
        <p:nvSpPr>
          <p:cNvPr id="32" name="TextBox 32"/>
          <p:cNvSpPr txBox="1"/>
          <p:nvPr/>
        </p:nvSpPr>
        <p:spPr>
          <a:xfrm>
            <a:off x="9503222" y="1224915"/>
            <a:ext cx="1281806"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Segoe UI"/>
                <a:ea typeface="Segoe UI"/>
                <a:cs typeface="Segoe UI"/>
              </a:rPr>
              <a:t>🗑️ DELETE</a:t>
            </a:r>
          </a:p>
        </p:txBody>
      </p:sp>
      <p:sp>
        <p:nvSpPr>
          <p:cNvPr id="33" name="TextBox 33"/>
          <p:cNvSpPr txBox="1"/>
          <p:nvPr/>
        </p:nvSpPr>
        <p:spPr>
          <a:xfrm>
            <a:off x="9042654" y="1727835"/>
            <a:ext cx="1463040" cy="234696"/>
          </a:xfrm>
          <a:prstGeom prst="rect">
            <a:avLst/>
          </a:prstGeom>
          <a:noFill/>
          <a:ln>
            <a:noFill/>
          </a:ln>
        </p:spPr>
        <p:txBody>
          <a:bodyPr wrap="none" lIns="0" tIns="0" rIns="0" bIns="0" anchor="t" anchorCtr="0">
            <a:spAutoFit/>
          </a:bodyPr>
          <a:lstStyle/>
          <a:p>
            <a:pPr algn="l"/>
            <a:r>
              <a:rPr lang="en-US" sz="1200" dirty="0">
                <a:solidFill>
                  <a:srgbClr val="1E1E2E"/>
                </a:solidFill>
                <a:latin typeface="Consolas"/>
                <a:ea typeface="Consolas"/>
                <a:cs typeface="Consolas"/>
              </a:rPr>
              <a:t>DELETE ... WHERE</a:t>
            </a:r>
          </a:p>
        </p:txBody>
      </p:sp>
      <p:sp>
        <p:nvSpPr>
          <p:cNvPr id="34" name="TextBox 34"/>
          <p:cNvSpPr txBox="1"/>
          <p:nvPr/>
        </p:nvSpPr>
        <p:spPr>
          <a:xfrm>
            <a:off x="9041130" y="1981200"/>
            <a:ext cx="1226820"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精准删除中转</a:t>
            </a:r>
          </a:p>
        </p:txBody>
      </p:sp>
      <p:sp>
        <p:nvSpPr>
          <p:cNvPr id="35" name="TextBox 35"/>
          <p:cNvSpPr txBox="1"/>
          <p:nvPr/>
        </p:nvSpPr>
        <p:spPr>
          <a:xfrm>
            <a:off x="9041130" y="2238375"/>
            <a:ext cx="419100" cy="293370"/>
          </a:xfrm>
          <a:prstGeom prst="rect">
            <a:avLst/>
          </a:prstGeom>
          <a:noFill/>
          <a:ln>
            <a:noFill/>
          </a:ln>
        </p:spPr>
        <p:txBody>
          <a:bodyPr wrap="none" lIns="0" tIns="0" rIns="0" bIns="0" anchor="t" anchorCtr="0">
            <a:spAutoFit/>
          </a:bodyPr>
          <a:lstStyle/>
          <a:p>
            <a:pPr algn="l"/>
            <a:r>
              <a:rPr lang="zh-CN" sz="1500" dirty="0">
                <a:solidFill>
                  <a:srgbClr val="636E72"/>
                </a:solidFill>
                <a:latin typeface="Segoe UI"/>
                <a:ea typeface="Microsoft YaHei"/>
                <a:cs typeface="Segoe UI"/>
              </a:rPr>
              <a:t>记录</a:t>
            </a:r>
          </a:p>
        </p:txBody>
      </p:sp>
      <p:sp>
        <p:nvSpPr>
          <p:cNvPr id="36" name="TextBox 36"/>
          <p:cNvSpPr txBox="1"/>
          <p:nvPr/>
        </p:nvSpPr>
        <p:spPr>
          <a:xfrm>
            <a:off x="9041892" y="2616518"/>
            <a:ext cx="1104138" cy="264033"/>
          </a:xfrm>
          <a:prstGeom prst="rect">
            <a:avLst/>
          </a:prstGeom>
          <a:noFill/>
          <a:ln>
            <a:noFill/>
          </a:ln>
        </p:spPr>
        <p:txBody>
          <a:bodyPr wrap="none" lIns="0" tIns="0" rIns="0" bIns="0" anchor="t" anchorCtr="0">
            <a:spAutoFit/>
          </a:bodyPr>
          <a:lstStyle/>
          <a:p>
            <a:pPr algn="l"/>
            <a:r>
              <a:rPr lang="zh-CN" sz="1350" dirty="0">
                <a:solidFill>
                  <a:srgbClr val="B2BEC3"/>
                </a:solidFill>
                <a:latin typeface="Segoe UI"/>
                <a:ea typeface="Microsoft YaHei"/>
                <a:cs typeface="Segoe UI"/>
              </a:rPr>
              <a:t>外键约束保证</a:t>
            </a:r>
          </a:p>
        </p:txBody>
      </p:sp>
      <p:sp>
        <p:nvSpPr>
          <p:cNvPr id="37" name="TextBox 37"/>
          <p:cNvSpPr txBox="1"/>
          <p:nvPr/>
        </p:nvSpPr>
        <p:spPr>
          <a:xfrm>
            <a:off x="9041892" y="2854642"/>
            <a:ext cx="922401" cy="264033"/>
          </a:xfrm>
          <a:prstGeom prst="rect">
            <a:avLst/>
          </a:prstGeom>
          <a:noFill/>
          <a:ln>
            <a:noFill/>
          </a:ln>
        </p:spPr>
        <p:txBody>
          <a:bodyPr wrap="none" lIns="0" tIns="0" rIns="0" bIns="0" anchor="t" anchorCtr="0">
            <a:spAutoFit/>
          </a:bodyPr>
          <a:lstStyle/>
          <a:p>
            <a:pPr algn="l"/>
            <a:r>
              <a:rPr lang="zh-CN" sz="1350" dirty="0">
                <a:solidFill>
                  <a:srgbClr val="B2BEC3"/>
                </a:solidFill>
                <a:latin typeface="Segoe UI"/>
                <a:ea typeface="Microsoft YaHei"/>
                <a:cs typeface="Segoe UI"/>
              </a:rPr>
              <a:t>数据完整性</a:t>
            </a:r>
          </a:p>
        </p:txBody>
      </p:sp>
      <p:sp>
        <p:nvSpPr>
          <p:cNvPr id="38" name="Rectangle 38"/>
          <p:cNvSpPr/>
          <p:nvPr/>
        </p:nvSpPr>
        <p:spPr>
          <a:xfrm>
            <a:off x="571500" y="3952875"/>
            <a:ext cx="11049000" cy="1428750"/>
          </a:xfrm>
          <a:prstGeom prst="roundRect">
            <a:avLst>
              <a:gd name="adj" fmla="val 2667"/>
            </a:avLst>
          </a:prstGeom>
          <a:solidFill>
            <a:srgbClr val="E8F8F5"/>
          </a:solidFill>
          <a:ln w="19050">
            <a:solidFill>
              <a:srgbClr val="00B894"/>
            </a:solidFill>
          </a:ln>
        </p:spPr>
      </p:sp>
      <p:sp>
        <p:nvSpPr>
          <p:cNvPr id="39" name="TextBox 39"/>
          <p:cNvSpPr txBox="1"/>
          <p:nvPr/>
        </p:nvSpPr>
        <p:spPr>
          <a:xfrm>
            <a:off x="4838616" y="4107180"/>
            <a:ext cx="2514768" cy="410718"/>
          </a:xfrm>
          <a:prstGeom prst="rect">
            <a:avLst/>
          </a:prstGeom>
          <a:noFill/>
          <a:ln>
            <a:noFill/>
          </a:ln>
        </p:spPr>
        <p:txBody>
          <a:bodyPr wrap="none" lIns="0" tIns="0" rIns="0" bIns="0" anchor="t" anchorCtr="0">
            <a:spAutoFit/>
          </a:bodyPr>
          <a:lstStyle/>
          <a:p>
            <a:pPr algn="ctr"/>
            <a:r>
              <a:rPr lang="zh-CN" sz="2100" b="1" dirty="0">
                <a:solidFill>
                  <a:srgbClr val="00B894"/>
                </a:solidFill>
                <a:latin typeface="Segoe UI"/>
                <a:ea typeface="Microsoft YaHei"/>
                <a:cs typeface="Segoe UI"/>
              </a:rPr>
              <a:t>🛡️ 触发器拦截演示</a:t>
            </a:r>
          </a:p>
        </p:txBody>
      </p:sp>
      <p:sp>
        <p:nvSpPr>
          <p:cNvPr id="40" name="TextBox 40"/>
          <p:cNvSpPr txBox="1"/>
          <p:nvPr/>
        </p:nvSpPr>
        <p:spPr>
          <a:xfrm>
            <a:off x="753618" y="4584382"/>
            <a:ext cx="10645310" cy="322707"/>
          </a:xfrm>
          <a:prstGeom prst="rect">
            <a:avLst/>
          </a:prstGeom>
          <a:noFill/>
          <a:ln>
            <a:noFill/>
          </a:ln>
        </p:spPr>
        <p:txBody>
          <a:bodyPr wrap="none" lIns="0" tIns="0" rIns="0" bIns="0" anchor="t" anchorCtr="0">
            <a:spAutoFit/>
          </a:bodyPr>
          <a:lstStyle/>
          <a:p>
            <a:pPr algn="l"/>
            <a:r>
              <a:rPr lang="en-US" sz="1650" dirty="0">
                <a:solidFill>
                  <a:srgbClr val="1E1E2E"/>
                </a:solidFill>
                <a:latin typeface="Consolas"/>
                <a:ea typeface="Consolas"/>
                <a:cs typeface="Consolas"/>
              </a:rPr>
              <a:t>INSERT INTO TransitRecord (tracking_no, current_station_id, courier_id) VALUES ('...', 1, 1);</a:t>
            </a:r>
          </a:p>
        </p:txBody>
      </p:sp>
      <p:sp>
        <p:nvSpPr>
          <p:cNvPr id="41" name="TextBox 41"/>
          <p:cNvSpPr txBox="1"/>
          <p:nvPr/>
        </p:nvSpPr>
        <p:spPr>
          <a:xfrm>
            <a:off x="753618" y="4917758"/>
            <a:ext cx="5168341" cy="322707"/>
          </a:xfrm>
          <a:prstGeom prst="rect">
            <a:avLst/>
          </a:prstGeom>
          <a:noFill/>
          <a:ln>
            <a:noFill/>
          </a:ln>
        </p:spPr>
        <p:txBody>
          <a:bodyPr wrap="none" lIns="0" tIns="0" rIns="0" bIns="0" anchor="t" anchorCtr="0">
            <a:spAutoFit/>
          </a:bodyPr>
          <a:lstStyle/>
          <a:p>
            <a:pPr algn="l"/>
            <a:r>
              <a:rPr lang="zh-CN" sz="1650" dirty="0">
                <a:solidFill>
                  <a:srgbClr val="E17055"/>
                </a:solidFill>
                <a:latin typeface="Segoe UI"/>
                <a:ea typeface="Microsoft YaHei"/>
                <a:cs typeface="Segoe UI"/>
              </a:rPr>
              <a:t>→ ERROR：用户 1 不是快递员，不能承担运输任务</a:t>
            </a:r>
          </a:p>
        </p:txBody>
      </p:sp>
      <p:sp>
        <p:nvSpPr>
          <p:cNvPr id="42" name="Rectangle 42"/>
          <p:cNvSpPr/>
          <p:nvPr/>
        </p:nvSpPr>
        <p:spPr>
          <a:xfrm>
            <a:off x="762000" y="6191250"/>
            <a:ext cx="10668000" cy="9525"/>
          </a:xfrm>
          <a:prstGeom prst="rect">
            <a:avLst/>
          </a:prstGeom>
          <a:solidFill>
            <a:srgbClr val="DFE6E9"/>
          </a:solidFill>
          <a:ln>
            <a:noFill/>
          </a:ln>
        </p:spPr>
      </p:sp>
      <p:sp>
        <p:nvSpPr>
          <p:cNvPr id="43" name="TextBox 43"/>
          <p:cNvSpPr txBox="1"/>
          <p:nvPr/>
        </p:nvSpPr>
        <p:spPr>
          <a:xfrm>
            <a:off x="10914278" y="6331268"/>
            <a:ext cx="522580" cy="264033"/>
          </a:xfrm>
          <a:prstGeom prst="rect">
            <a:avLst/>
          </a:prstGeom>
          <a:noFill/>
          <a:ln>
            <a:noFill/>
          </a:ln>
        </p:spPr>
        <p:txBody>
          <a:bodyPr wrap="none" lIns="0" tIns="0" rIns="0" bIns="0" anchor="t" anchorCtr="0">
            <a:spAutoFit/>
          </a:bodyPr>
          <a:lstStyle/>
          <a:p>
            <a:pPr algn="r"/>
            <a:r>
              <a:rPr lang="en-US" sz="1350" dirty="0">
                <a:solidFill>
                  <a:srgbClr val="B2BEC3"/>
                </a:solidFill>
                <a:latin typeface="Segoe UI"/>
                <a:ea typeface="Segoe UI"/>
                <a:cs typeface="Segoe UI"/>
              </a:rPr>
              <a:t>9 / 11</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38100"/>
          </a:xfrm>
          <a:prstGeom prst="rect">
            <a:avLst/>
          </a:prstGeom>
          <a:solidFill>
            <a:srgbClr val="1A3A5C"/>
          </a:solidFill>
          <a:ln>
            <a:noFill/>
          </a:ln>
        </p:spPr>
      </p:sp>
      <p:sp>
        <p:nvSpPr>
          <p:cNvPr id="4" name="TextBox 4"/>
          <p:cNvSpPr txBox="1"/>
          <p:nvPr/>
        </p:nvSpPr>
        <p:spPr>
          <a:xfrm>
            <a:off x="743712" y="297180"/>
            <a:ext cx="2580894" cy="704088"/>
          </a:xfrm>
          <a:prstGeom prst="rect">
            <a:avLst/>
          </a:prstGeom>
          <a:noFill/>
          <a:ln>
            <a:noFill/>
          </a:ln>
        </p:spPr>
        <p:txBody>
          <a:bodyPr wrap="none" lIns="0" tIns="0" rIns="0" bIns="0" anchor="t" anchorCtr="0">
            <a:spAutoFit/>
          </a:bodyPr>
          <a:lstStyle/>
          <a:p>
            <a:pPr algn="l"/>
            <a:r>
              <a:rPr lang="zh-CN" sz="3600" b="1" dirty="0">
                <a:solidFill>
                  <a:srgbClr val="1A3A5C"/>
                </a:solidFill>
                <a:latin typeface="Segoe UI"/>
                <a:ea typeface="Microsoft YaHei"/>
                <a:cs typeface="Segoe UI"/>
              </a:rPr>
              <a:t>总结与展望</a:t>
            </a:r>
          </a:p>
        </p:txBody>
      </p:sp>
      <p:sp>
        <p:nvSpPr>
          <p:cNvPr id="5" name="Line 5"/>
          <p:cNvSpPr/>
          <p:nvPr/>
        </p:nvSpPr>
        <p:spPr>
          <a:xfrm>
            <a:off x="762000" y="857250"/>
            <a:ext cx="1524000" cy="9525"/>
          </a:xfrm>
          <a:custGeom>
            <a:avLst/>
            <a:gdLst/>
            <a:ahLst/>
            <a:cxnLst/>
            <a:rect l="l" t="t" r="r" b="b"/>
            <a:pathLst>
              <a:path w="1524000" h="9525">
                <a:moveTo>
                  <a:pt x="0" y="0"/>
                </a:moveTo>
                <a:lnTo>
                  <a:pt x="1524000" y="0"/>
                </a:lnTo>
              </a:path>
            </a:pathLst>
          </a:custGeom>
          <a:noFill/>
          <a:ln w="28575">
            <a:solidFill>
              <a:srgbClr val="00A8A8"/>
            </a:solidFill>
          </a:ln>
        </p:spPr>
      </p:sp>
      <p:sp>
        <p:nvSpPr>
          <p:cNvPr id="6" name="TextBox 6"/>
          <p:cNvSpPr txBox="1"/>
          <p:nvPr/>
        </p:nvSpPr>
        <p:spPr>
          <a:xfrm>
            <a:off x="748284" y="946785"/>
            <a:ext cx="1554023" cy="528066"/>
          </a:xfrm>
          <a:prstGeom prst="rect">
            <a:avLst/>
          </a:prstGeom>
          <a:noFill/>
          <a:ln>
            <a:noFill/>
          </a:ln>
        </p:spPr>
        <p:txBody>
          <a:bodyPr wrap="none" lIns="0" tIns="0" rIns="0" bIns="0" anchor="t" anchorCtr="0">
            <a:spAutoFit/>
          </a:bodyPr>
          <a:lstStyle/>
          <a:p>
            <a:pPr algn="l"/>
            <a:r>
              <a:rPr lang="zh-CN" sz="2700" b="1" dirty="0">
                <a:solidFill>
                  <a:srgbClr val="1A3A5C"/>
                </a:solidFill>
                <a:latin typeface="Segoe UI"/>
                <a:ea typeface="Microsoft YaHei"/>
                <a:cs typeface="Segoe UI"/>
              </a:rPr>
              <a:t>设计成果</a:t>
            </a:r>
          </a:p>
        </p:txBody>
      </p:sp>
      <p:sp>
        <p:nvSpPr>
          <p:cNvPr id="7" name="TextBox 7"/>
          <p:cNvSpPr txBox="1"/>
          <p:nvPr/>
        </p:nvSpPr>
        <p:spPr>
          <a:xfrm>
            <a:off x="1134618" y="1488758"/>
            <a:ext cx="6147359"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 需求分析：数据流图（顶层/0层/1层）+ 数据字典 + 8项功能</a:t>
            </a:r>
          </a:p>
        </p:txBody>
      </p:sp>
      <p:sp>
        <p:nvSpPr>
          <p:cNvPr id="8" name="TextBox 8"/>
          <p:cNvSpPr txBox="1"/>
          <p:nvPr/>
        </p:nvSpPr>
        <p:spPr>
          <a:xfrm>
            <a:off x="1134618" y="1841182"/>
            <a:ext cx="5426507"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 概念设计：E-R 图 — 5个实体、6组关系、方案分析</a:t>
            </a:r>
          </a:p>
        </p:txBody>
      </p:sp>
      <p:sp>
        <p:nvSpPr>
          <p:cNvPr id="9" name="TextBox 9"/>
          <p:cNvSpPr txBox="1"/>
          <p:nvPr/>
        </p:nvSpPr>
        <p:spPr>
          <a:xfrm>
            <a:off x="1134618" y="2193608"/>
            <a:ext cx="5684672"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 逻辑设计：E-R→5张关系表、7条外键、转换规则标注</a:t>
            </a:r>
          </a:p>
        </p:txBody>
      </p:sp>
      <p:sp>
        <p:nvSpPr>
          <p:cNvPr id="10" name="TextBox 10"/>
          <p:cNvSpPr txBox="1"/>
          <p:nvPr/>
        </p:nvSpPr>
        <p:spPr>
          <a:xfrm>
            <a:off x="1134618" y="2546032"/>
            <a:ext cx="5086198"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 BCNF：5表函数依赖分析，全部满足，无需分解</a:t>
            </a:r>
          </a:p>
        </p:txBody>
      </p:sp>
      <p:sp>
        <p:nvSpPr>
          <p:cNvPr id="11" name="TextBox 11"/>
          <p:cNvSpPr txBox="1"/>
          <p:nvPr/>
        </p:nvSpPr>
        <p:spPr>
          <a:xfrm>
            <a:off x="1134618" y="2898458"/>
            <a:ext cx="5250485"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 物理实现：5表 + 5索引 + 3SP + 3触发器 + 3视图</a:t>
            </a:r>
          </a:p>
        </p:txBody>
      </p:sp>
      <p:sp>
        <p:nvSpPr>
          <p:cNvPr id="12" name="TextBox 12"/>
          <p:cNvSpPr txBox="1"/>
          <p:nvPr/>
        </p:nvSpPr>
        <p:spPr>
          <a:xfrm>
            <a:off x="1134618" y="3250882"/>
            <a:ext cx="5203546" cy="322707"/>
          </a:xfrm>
          <a:prstGeom prst="rect">
            <a:avLst/>
          </a:prstGeom>
          <a:noFill/>
          <a:ln>
            <a:noFill/>
          </a:ln>
        </p:spPr>
        <p:txBody>
          <a:bodyPr wrap="none" lIns="0" tIns="0" rIns="0" bIns="0" anchor="t" anchorCtr="0">
            <a:spAutoFit/>
          </a:bodyPr>
          <a:lstStyle/>
          <a:p>
            <a:pPr algn="l"/>
            <a:r>
              <a:rPr lang="zh-CN" sz="1650" dirty="0">
                <a:solidFill>
                  <a:srgbClr val="2D3436"/>
                </a:solidFill>
                <a:latin typeface="Segoe UI"/>
                <a:ea typeface="Microsoft YaHei"/>
                <a:cs typeface="Segoe UI"/>
              </a:rPr>
              <a:t>✅ 数据操作：15+ SQL 完成增删改查 + 触发器验证</a:t>
            </a:r>
          </a:p>
        </p:txBody>
      </p:sp>
      <p:sp>
        <p:nvSpPr>
          <p:cNvPr id="13" name="TextBox 13"/>
          <p:cNvSpPr txBox="1"/>
          <p:nvPr/>
        </p:nvSpPr>
        <p:spPr>
          <a:xfrm>
            <a:off x="748284" y="3709035"/>
            <a:ext cx="1554023" cy="528066"/>
          </a:xfrm>
          <a:prstGeom prst="rect">
            <a:avLst/>
          </a:prstGeom>
          <a:noFill/>
          <a:ln>
            <a:noFill/>
          </a:ln>
        </p:spPr>
        <p:txBody>
          <a:bodyPr wrap="none" lIns="0" tIns="0" rIns="0" bIns="0" anchor="t" anchorCtr="0">
            <a:spAutoFit/>
          </a:bodyPr>
          <a:lstStyle/>
          <a:p>
            <a:pPr algn="l"/>
            <a:r>
              <a:rPr lang="zh-CN" sz="2700" b="1" dirty="0">
                <a:solidFill>
                  <a:srgbClr val="1A3A5C"/>
                </a:solidFill>
                <a:latin typeface="Segoe UI"/>
                <a:ea typeface="Microsoft YaHei"/>
                <a:cs typeface="Segoe UI"/>
              </a:rPr>
              <a:t>改进方向</a:t>
            </a:r>
          </a:p>
        </p:txBody>
      </p:sp>
      <p:sp>
        <p:nvSpPr>
          <p:cNvPr id="14" name="TextBox 14"/>
          <p:cNvSpPr txBox="1"/>
          <p:nvPr/>
        </p:nvSpPr>
        <p:spPr>
          <a:xfrm>
            <a:off x="1134618" y="4251008"/>
            <a:ext cx="2871045" cy="322707"/>
          </a:xfrm>
          <a:prstGeom prst="rect">
            <a:avLst/>
          </a:prstGeom>
          <a:noFill/>
          <a:ln>
            <a:noFill/>
          </a:ln>
        </p:spPr>
        <p:txBody>
          <a:bodyPr wrap="none" lIns="0" tIns="0" rIns="0" bIns="0" anchor="t" anchorCtr="0">
            <a:spAutoFit/>
          </a:bodyPr>
          <a:lstStyle/>
          <a:p>
            <a:pPr algn="l"/>
            <a:r>
              <a:rPr lang="zh-CN" sz="1650" dirty="0">
                <a:solidFill>
                  <a:srgbClr val="636E72"/>
                </a:solidFill>
                <a:latin typeface="Segoe UI"/>
                <a:ea typeface="Microsoft YaHei"/>
                <a:cs typeface="Segoe UI"/>
              </a:rPr>
              <a:t>🔐 密码加密存储（哈希加盐）</a:t>
            </a:r>
          </a:p>
        </p:txBody>
      </p:sp>
      <p:sp>
        <p:nvSpPr>
          <p:cNvPr id="15" name="TextBox 15"/>
          <p:cNvSpPr txBox="1"/>
          <p:nvPr/>
        </p:nvSpPr>
        <p:spPr>
          <a:xfrm>
            <a:off x="5706618" y="4251008"/>
            <a:ext cx="2426799" cy="322707"/>
          </a:xfrm>
          <a:prstGeom prst="rect">
            <a:avLst/>
          </a:prstGeom>
          <a:noFill/>
          <a:ln>
            <a:noFill/>
          </a:ln>
        </p:spPr>
        <p:txBody>
          <a:bodyPr wrap="none" lIns="0" tIns="0" rIns="0" bIns="0" anchor="t" anchorCtr="0">
            <a:spAutoFit/>
          </a:bodyPr>
          <a:lstStyle/>
          <a:p>
            <a:pPr algn="l"/>
            <a:r>
              <a:rPr lang="zh-CN" sz="1650" dirty="0">
                <a:solidFill>
                  <a:srgbClr val="636E72"/>
                </a:solidFill>
                <a:latin typeface="Segoe UI"/>
                <a:ea typeface="Microsoft YaHei"/>
                <a:cs typeface="Segoe UI"/>
              </a:rPr>
              <a:t>📊 复合索引、分区表优化</a:t>
            </a:r>
          </a:p>
        </p:txBody>
      </p:sp>
      <p:sp>
        <p:nvSpPr>
          <p:cNvPr id="16" name="TextBox 16"/>
          <p:cNvSpPr txBox="1"/>
          <p:nvPr/>
        </p:nvSpPr>
        <p:spPr>
          <a:xfrm>
            <a:off x="1134618" y="4603432"/>
            <a:ext cx="3185160" cy="322707"/>
          </a:xfrm>
          <a:prstGeom prst="rect">
            <a:avLst/>
          </a:prstGeom>
          <a:noFill/>
          <a:ln>
            <a:noFill/>
          </a:ln>
        </p:spPr>
        <p:txBody>
          <a:bodyPr wrap="none" lIns="0" tIns="0" rIns="0" bIns="0" anchor="t" anchorCtr="0">
            <a:spAutoFit/>
          </a:bodyPr>
          <a:lstStyle/>
          <a:p>
            <a:pPr algn="l"/>
            <a:r>
              <a:rPr lang="zh-CN" sz="1650" dirty="0">
                <a:solidFill>
                  <a:srgbClr val="636E72"/>
                </a:solidFill>
                <a:latin typeface="Segoe UI"/>
                <a:ea typeface="Microsoft YaHei"/>
                <a:cs typeface="Segoe UI"/>
              </a:rPr>
              <a:t>🛡️ GRANT/REVOKE 细粒度权限</a:t>
            </a:r>
          </a:p>
        </p:txBody>
      </p:sp>
      <p:sp>
        <p:nvSpPr>
          <p:cNvPr id="17" name="TextBox 17"/>
          <p:cNvSpPr txBox="1"/>
          <p:nvPr/>
        </p:nvSpPr>
        <p:spPr>
          <a:xfrm>
            <a:off x="5706618" y="4603432"/>
            <a:ext cx="2426799" cy="322707"/>
          </a:xfrm>
          <a:prstGeom prst="rect">
            <a:avLst/>
          </a:prstGeom>
          <a:noFill/>
          <a:ln>
            <a:noFill/>
          </a:ln>
        </p:spPr>
        <p:txBody>
          <a:bodyPr wrap="none" lIns="0" tIns="0" rIns="0" bIns="0" anchor="t" anchorCtr="0">
            <a:spAutoFit/>
          </a:bodyPr>
          <a:lstStyle/>
          <a:p>
            <a:pPr algn="l"/>
            <a:r>
              <a:rPr lang="zh-CN" sz="1650" dirty="0">
                <a:solidFill>
                  <a:srgbClr val="636E72"/>
                </a:solidFill>
                <a:latin typeface="Segoe UI"/>
                <a:ea typeface="Microsoft YaHei"/>
                <a:cs typeface="Segoe UI"/>
              </a:rPr>
              <a:t>📦 多路径选择、费用计算</a:t>
            </a:r>
          </a:p>
        </p:txBody>
      </p:sp>
      <p:sp>
        <p:nvSpPr>
          <p:cNvPr id="18" name="Rectangle 18"/>
          <p:cNvSpPr/>
          <p:nvPr/>
        </p:nvSpPr>
        <p:spPr>
          <a:xfrm>
            <a:off x="762000" y="5143500"/>
            <a:ext cx="10668000" cy="666750"/>
          </a:xfrm>
          <a:prstGeom prst="roundRect">
            <a:avLst>
              <a:gd name="adj" fmla="val 5714"/>
            </a:avLst>
          </a:prstGeom>
          <a:solidFill>
            <a:srgbClr val="F5F7FA"/>
          </a:solidFill>
          <a:ln w="9525">
            <a:solidFill>
              <a:srgbClr val="DFE6E9"/>
            </a:solidFill>
          </a:ln>
        </p:spPr>
      </p:sp>
      <p:sp>
        <p:nvSpPr>
          <p:cNvPr id="19" name="TextBox 19"/>
          <p:cNvSpPr txBox="1"/>
          <p:nvPr/>
        </p:nvSpPr>
        <p:spPr>
          <a:xfrm>
            <a:off x="1252880" y="5298758"/>
            <a:ext cx="9686239" cy="322707"/>
          </a:xfrm>
          <a:prstGeom prst="rect">
            <a:avLst/>
          </a:prstGeom>
          <a:noFill/>
          <a:ln>
            <a:noFill/>
          </a:ln>
        </p:spPr>
        <p:txBody>
          <a:bodyPr wrap="none" lIns="0" tIns="0" rIns="0" bIns="0" anchor="t" anchorCtr="0">
            <a:spAutoFit/>
          </a:bodyPr>
          <a:lstStyle/>
          <a:p>
            <a:pPr algn="ctr"/>
            <a:r>
              <a:rPr lang="zh-CN" sz="1650" dirty="0">
                <a:solidFill>
                  <a:srgbClr val="2D3436"/>
                </a:solidFill>
                <a:latin typeface="Segoe UI"/>
                <a:ea typeface="Microsoft YaHei"/>
                <a:cs typeface="Segoe UI"/>
              </a:rPr>
              <a:t>覆盖课程知识点：第3章 SQL · 第4章 BCNF · 第5章 E-R+转换 · 第6章 存储过程/触发器/视图</a:t>
            </a:r>
          </a:p>
        </p:txBody>
      </p:sp>
      <p:sp>
        <p:nvSpPr>
          <p:cNvPr id="20" name="Rectangle 20"/>
          <p:cNvSpPr/>
          <p:nvPr/>
        </p:nvSpPr>
        <p:spPr>
          <a:xfrm>
            <a:off x="762000" y="6191250"/>
            <a:ext cx="10668000" cy="9525"/>
          </a:xfrm>
          <a:prstGeom prst="rect">
            <a:avLst/>
          </a:prstGeom>
          <a:solidFill>
            <a:srgbClr val="DFE6E9"/>
          </a:solidFill>
          <a:ln>
            <a:noFill/>
          </a:ln>
        </p:spPr>
      </p:sp>
      <p:sp>
        <p:nvSpPr>
          <p:cNvPr id="21" name="TextBox 21"/>
          <p:cNvSpPr txBox="1"/>
          <p:nvPr/>
        </p:nvSpPr>
        <p:spPr>
          <a:xfrm>
            <a:off x="10814323" y="6331268"/>
            <a:ext cx="622535" cy="264033"/>
          </a:xfrm>
          <a:prstGeom prst="rect">
            <a:avLst/>
          </a:prstGeom>
          <a:noFill/>
          <a:ln>
            <a:noFill/>
          </a:ln>
        </p:spPr>
        <p:txBody>
          <a:bodyPr wrap="none" lIns="0" tIns="0" rIns="0" bIns="0" anchor="t" anchorCtr="0">
            <a:spAutoFit/>
          </a:bodyPr>
          <a:lstStyle/>
          <a:p>
            <a:pPr algn="r"/>
            <a:r>
              <a:rPr lang="en-US" sz="1350" dirty="0">
                <a:solidFill>
                  <a:srgbClr val="B2BEC3"/>
                </a:solidFill>
                <a:latin typeface="Segoe UI"/>
                <a:ea typeface="Segoe UI"/>
                <a:cs typeface="Segoe UI"/>
              </a:rPr>
              <a:t>10 / 11</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3A5C"/>
              </a:gs>
              <a:gs pos="100000">
                <a:srgbClr val="0D7377"/>
              </a:gs>
            </a:gsLst>
            <a:lin ang="2700000" scaled="1"/>
          </a:gradFill>
          <a:ln>
            <a:noFill/>
          </a:ln>
        </p:spPr>
      </p:sp>
      <p:sp>
        <p:nvSpPr>
          <p:cNvPr id="3" name="Rectangle 3"/>
          <p:cNvSpPr/>
          <p:nvPr/>
        </p:nvSpPr>
        <p:spPr>
          <a:xfrm>
            <a:off x="571500" y="571500"/>
            <a:ext cx="11049000" cy="5715000"/>
          </a:xfrm>
          <a:prstGeom prst="rect">
            <a:avLst/>
          </a:prstGeom>
          <a:noFill/>
          <a:ln w="19050">
            <a:solidFill>
              <a:srgbClr val="FFFFFF">
                <a:alpha val="15000"/>
              </a:srgbClr>
            </a:solidFill>
          </a:ln>
        </p:spPr>
      </p:sp>
      <p:sp>
        <p:nvSpPr>
          <p:cNvPr id="4" name="Rectangle 4"/>
          <p:cNvSpPr/>
          <p:nvPr/>
        </p:nvSpPr>
        <p:spPr>
          <a:xfrm>
            <a:off x="666750" y="666750"/>
            <a:ext cx="10858500" cy="5524500"/>
          </a:xfrm>
          <a:prstGeom prst="rect">
            <a:avLst/>
          </a:prstGeom>
          <a:noFill/>
          <a:ln w="9525">
            <a:solidFill>
              <a:srgbClr val="FFFFFF">
                <a:alpha val="8000"/>
              </a:srgbClr>
            </a:solidFill>
          </a:ln>
        </p:spPr>
      </p:sp>
      <p:sp>
        <p:nvSpPr>
          <p:cNvPr id="5" name="TextBox 5"/>
          <p:cNvSpPr txBox="1"/>
          <p:nvPr/>
        </p:nvSpPr>
        <p:spPr>
          <a:xfrm>
            <a:off x="5059223" y="1699260"/>
            <a:ext cx="2073554" cy="1390650"/>
          </a:xfrm>
          <a:prstGeom prst="rect">
            <a:avLst/>
          </a:prstGeom>
          <a:noFill/>
          <a:ln>
            <a:noFill/>
          </a:ln>
        </p:spPr>
        <p:txBody>
          <a:bodyPr wrap="none" lIns="0" tIns="0" rIns="0" bIns="0" anchor="t" anchorCtr="0">
            <a:spAutoFit/>
          </a:bodyPr>
          <a:lstStyle/>
          <a:p>
            <a:pPr algn="ctr"/>
            <a:r>
              <a:rPr lang="zh-CN" sz="7200" b="1" dirty="0">
                <a:solidFill>
                  <a:srgbClr val="FFFFFF"/>
                </a:solidFill>
                <a:latin typeface="Segoe UI"/>
                <a:ea typeface="Microsoft YaHei"/>
                <a:cs typeface="Segoe UI"/>
              </a:rPr>
              <a:t>谢谢</a:t>
            </a:r>
          </a:p>
        </p:txBody>
      </p:sp>
      <p:sp>
        <p:nvSpPr>
          <p:cNvPr id="6" name="TextBox 6"/>
          <p:cNvSpPr txBox="1"/>
          <p:nvPr/>
        </p:nvSpPr>
        <p:spPr>
          <a:xfrm>
            <a:off x="4799990" y="2851785"/>
            <a:ext cx="2592019" cy="528066"/>
          </a:xfrm>
          <a:prstGeom prst="rect">
            <a:avLst/>
          </a:prstGeom>
          <a:noFill/>
          <a:ln>
            <a:noFill/>
          </a:ln>
        </p:spPr>
        <p:txBody>
          <a:bodyPr wrap="none" lIns="0" tIns="0" rIns="0" bIns="0" anchor="t" anchorCtr="0">
            <a:spAutoFit/>
          </a:bodyPr>
          <a:lstStyle/>
          <a:p>
            <a:pPr algn="ctr"/>
            <a:r>
              <a:rPr lang="en-US" sz="2700" spc="600" dirty="0">
                <a:solidFill>
                  <a:srgbClr val="00A8A8"/>
                </a:solidFill>
                <a:latin typeface="Segoe UI"/>
                <a:ea typeface="Segoe UI"/>
                <a:cs typeface="Segoe UI"/>
              </a:rPr>
              <a:t>THANK YOU</a:t>
            </a:r>
          </a:p>
        </p:txBody>
      </p:sp>
      <p:sp>
        <p:nvSpPr>
          <p:cNvPr id="7" name="Line 7"/>
          <p:cNvSpPr/>
          <p:nvPr/>
        </p:nvSpPr>
        <p:spPr>
          <a:xfrm>
            <a:off x="5143500" y="3524250"/>
            <a:ext cx="1905000" cy="9525"/>
          </a:xfrm>
          <a:custGeom>
            <a:avLst/>
            <a:gdLst/>
            <a:ahLst/>
            <a:cxnLst/>
            <a:rect l="l" t="t" r="r" b="b"/>
            <a:pathLst>
              <a:path w="1905000" h="9525">
                <a:moveTo>
                  <a:pt x="0" y="0"/>
                </a:moveTo>
                <a:lnTo>
                  <a:pt x="1905000" y="0"/>
                </a:lnTo>
              </a:path>
            </a:pathLst>
          </a:custGeom>
          <a:noFill/>
          <a:ln w="19050">
            <a:solidFill>
              <a:srgbClr val="00A8A8"/>
            </a:solidFill>
          </a:ln>
        </p:spPr>
      </p:sp>
      <p:sp>
        <p:nvSpPr>
          <p:cNvPr id="8" name="TextBox 8"/>
          <p:cNvSpPr txBox="1"/>
          <p:nvPr/>
        </p:nvSpPr>
        <p:spPr>
          <a:xfrm>
            <a:off x="4306824" y="3836670"/>
            <a:ext cx="3578352" cy="469392"/>
          </a:xfrm>
          <a:prstGeom prst="rect">
            <a:avLst/>
          </a:prstGeom>
          <a:noFill/>
          <a:ln>
            <a:noFill/>
          </a:ln>
        </p:spPr>
        <p:txBody>
          <a:bodyPr wrap="none" lIns="0" tIns="0" rIns="0" bIns="0" anchor="t" anchorCtr="0">
            <a:spAutoFit/>
          </a:bodyPr>
          <a:lstStyle/>
          <a:p>
            <a:pPr algn="ctr"/>
            <a:r>
              <a:rPr lang="zh-CN" sz="2400" dirty="0">
                <a:solidFill>
                  <a:srgbClr val="B2BEC3"/>
                </a:solidFill>
                <a:latin typeface="Segoe UI"/>
                <a:ea typeface="Microsoft YaHei"/>
                <a:cs typeface="Segoe UI"/>
              </a:rPr>
              <a:t>快递物流平台数据库设计</a:t>
            </a:r>
          </a:p>
        </p:txBody>
      </p:sp>
      <p:sp>
        <p:nvSpPr>
          <p:cNvPr id="9" name="TextBox 9"/>
          <p:cNvSpPr txBox="1"/>
          <p:nvPr/>
        </p:nvSpPr>
        <p:spPr>
          <a:xfrm>
            <a:off x="4251312" y="4377690"/>
            <a:ext cx="3689375" cy="352044"/>
          </a:xfrm>
          <a:prstGeom prst="rect">
            <a:avLst/>
          </a:prstGeom>
          <a:noFill/>
          <a:ln>
            <a:noFill/>
          </a:ln>
        </p:spPr>
        <p:txBody>
          <a:bodyPr wrap="none" lIns="0" tIns="0" rIns="0" bIns="0" anchor="t" anchorCtr="0">
            <a:spAutoFit/>
          </a:bodyPr>
          <a:lstStyle/>
          <a:p>
            <a:pPr algn="ctr"/>
            <a:r>
              <a:rPr lang="zh-CN" sz="1800" dirty="0">
                <a:solidFill>
                  <a:srgbClr val="636E72"/>
                </a:solidFill>
                <a:latin typeface="Segoe UI"/>
                <a:ea typeface="Microsoft YaHei"/>
                <a:cs typeface="Segoe UI"/>
              </a:rPr>
              <a:t>数据库原理与应用实验 · 期末答辩</a:t>
            </a:r>
          </a:p>
        </p:txBody>
      </p:sp>
      <p:sp>
        <p:nvSpPr>
          <p:cNvPr id="10" name="TextBox 10"/>
          <p:cNvSpPr txBox="1"/>
          <p:nvPr/>
        </p:nvSpPr>
        <p:spPr>
          <a:xfrm>
            <a:off x="5271326" y="5759768"/>
            <a:ext cx="1649349" cy="264033"/>
          </a:xfrm>
          <a:prstGeom prst="rect">
            <a:avLst/>
          </a:prstGeom>
          <a:noFill/>
          <a:ln>
            <a:noFill/>
          </a:ln>
        </p:spPr>
        <p:txBody>
          <a:bodyPr wrap="none" lIns="0" tIns="0" rIns="0" bIns="0" anchor="t" anchorCtr="0">
            <a:spAutoFit/>
          </a:bodyPr>
          <a:lstStyle/>
          <a:p>
            <a:pPr algn="ctr"/>
            <a:r>
              <a:rPr lang="zh-CN" sz="1350" dirty="0">
                <a:solidFill>
                  <a:srgbClr val="636E72"/>
                </a:solidFill>
                <a:latin typeface="Segoe UI"/>
                <a:ea typeface="Microsoft YaHei"/>
                <a:cs typeface="Segoe UI"/>
              </a:rPr>
              <a:t>请各位老师批评指正</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2026-06-27T10:13:05Z</dcterms:created>
  <dcterms:modified xsi:type="dcterms:W3CDTF">2026-06-27T10:13:05Z</dcterms:modified>
  <cp:category/>
  <cp:contentStatus/>
</cp:coreProperties>
</file>